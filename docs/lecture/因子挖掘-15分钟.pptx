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3213A"/>
                </a:solidFill>
                <a:latin typeface="Microsoft YaHei"/>
              </a:defRPr>
            </a:pPr>
            <a:r>
              <a:rPr sz="1000" b="0" i="0" u="none" strike="noStrike">
                <a:solidFill>
                  <a:srgbClr val="13213A"/>
                </a:solidFill>
                <a:latin typeface="Microsoft YaHei"/>
              </a:rPr>
              <a:t>示意：一条因子的每日 IC（40 天）——平均在 0 上方一点，且抖动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每日 IC</c:v>
                </c:pt>
              </c:strCache>
            </c:strRef>
          </c:tx>
          <c:spPr>
            <a:solidFill>
              <a:srgbClr val="0FA8C9"/>
            </a:solidFill>
            <a:ln w="19050" cap="flat">
              <a:solidFill>
                <a:srgbClr val="0FA8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A8C9"/>
              </a:solidFill>
              <a:ln w="9525" cap="flat">
                <a:solidFill>
                  <a:srgbClr val="0FA8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0.022</c:v>
                </c:pt>
                <c:pt idx="1">
                  <c:v>0.112</c:v>
                </c:pt>
                <c:pt idx="2">
                  <c:v>0.012</c:v>
                </c:pt>
                <c:pt idx="3">
                  <c:v>-0.035</c:v>
                </c:pt>
                <c:pt idx="4">
                  <c:v>-0.018</c:v>
                </c:pt>
                <c:pt idx="5">
                  <c:v>-0.065</c:v>
                </c:pt>
                <c:pt idx="6">
                  <c:v>0.091</c:v>
                </c:pt>
                <c:pt idx="7">
                  <c:v>0.055</c:v>
                </c:pt>
                <c:pt idx="8">
                  <c:v>0.03</c:v>
                </c:pt>
                <c:pt idx="9">
                  <c:v>0.05</c:v>
                </c:pt>
                <c:pt idx="10">
                  <c:v>-0.16</c:v>
                </c:pt>
                <c:pt idx="11">
                  <c:v>0.006</c:v>
                </c:pt>
                <c:pt idx="12">
                  <c:v>0.089</c:v>
                </c:pt>
                <c:pt idx="13">
                  <c:v>0.021</c:v>
                </c:pt>
                <c:pt idx="14">
                  <c:v>0.078</c:v>
                </c:pt>
                <c:pt idx="15">
                  <c:v>-0.014</c:v>
                </c:pt>
                <c:pt idx="16">
                  <c:v>-0.073</c:v>
                </c:pt>
                <c:pt idx="17">
                  <c:v>-0.012</c:v>
                </c:pt>
                <c:pt idx="18">
                  <c:v>0.038</c:v>
                </c:pt>
                <c:pt idx="19">
                  <c:v>0.055</c:v>
                </c:pt>
                <c:pt idx="20">
                  <c:v>0.071</c:v>
                </c:pt>
                <c:pt idx="21">
                  <c:v>-0.078</c:v>
                </c:pt>
                <c:pt idx="22">
                  <c:v>-0.004</c:v>
                </c:pt>
                <c:pt idx="23">
                  <c:v>0.058</c:v>
                </c:pt>
                <c:pt idx="24">
                  <c:v>-0.059</c:v>
                </c:pt>
                <c:pt idx="25">
                  <c:v>0.105</c:v>
                </c:pt>
                <c:pt idx="26">
                  <c:v>-0.002</c:v>
                </c:pt>
                <c:pt idx="27">
                  <c:v>-0.069</c:v>
                </c:pt>
                <c:pt idx="28">
                  <c:v>0.045</c:v>
                </c:pt>
                <c:pt idx="29">
                  <c:v>0.011</c:v>
                </c:pt>
                <c:pt idx="30">
                  <c:v>0.071</c:v>
                </c:pt>
                <c:pt idx="31">
                  <c:v>0.011</c:v>
                </c:pt>
                <c:pt idx="32">
                  <c:v>-0.065</c:v>
                </c:pt>
                <c:pt idx="33">
                  <c:v>-0.006</c:v>
                </c:pt>
                <c:pt idx="34">
                  <c:v>0.024</c:v>
                </c:pt>
                <c:pt idx="35">
                  <c:v>0.011</c:v>
                </c:pt>
                <c:pt idx="36">
                  <c:v>0.124</c:v>
                </c:pt>
                <c:pt idx="37">
                  <c:v>0.015</c:v>
                </c:pt>
                <c:pt idx="38">
                  <c:v>-0.132</c:v>
                </c:pt>
                <c:pt idx="39">
                  <c:v>0.028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0.15"/>
          <c:min val="-0.15"/>
        </c:scaling>
        <c:delete val="0"/>
        <c:axPos val="l"/>
        <c:majorGridlines>
          <c:spPr>
            <a:ln w="6350" cap="flat">
              <a:solidFill>
                <a:srgbClr val="E3EC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3213A"/>
                </a:solidFill>
                <a:latin typeface="Microsoft YaHei"/>
              </a:defRPr>
            </a:pPr>
            <a:r>
              <a:rPr sz="1000" b="0" i="0" u="none" strike="noStrike">
                <a:solidFill>
                  <a:srgbClr val="13213A"/>
                </a:solidFill>
                <a:latin typeface="Microsoft YaHei"/>
              </a:rPr>
              <a:t>示意：样本内漂亮 ≠ 高考成立（B、D 被拒）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样本内 IC</c:v>
                </c:pt>
              </c:strCache>
            </c:strRef>
          </c:tx>
          <c:spPr>
            <a:solidFill>
              <a:srgbClr val="0FA8C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32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候选 A</c:v>
                  </c:pt>
                  <c:pt idx="1">
                    <c:v>候选 B</c:v>
                  </c:pt>
                  <c:pt idx="2">
                    <c:v>候选 C</c:v>
                  </c:pt>
                  <c:pt idx="3">
                    <c:v>候选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0.031</c:v>
                </c:pt>
                <c:pt idx="1">
                  <c:v>0.024</c:v>
                </c:pt>
                <c:pt idx="2">
                  <c:v>0.019</c:v>
                </c:pt>
                <c:pt idx="3">
                  <c:v>0.022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留出 IC</c:v>
                </c:pt>
              </c:strCache>
            </c:strRef>
          </c:tx>
          <c:spPr>
            <a:solidFill>
              <a:srgbClr val="D9485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32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候选 A</c:v>
                  </c:pt>
                  <c:pt idx="1">
                    <c:v>候选 B</c:v>
                  </c:pt>
                  <c:pt idx="2">
                    <c:v>候选 C</c:v>
                  </c:pt>
                  <c:pt idx="3">
                    <c:v>候选 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0.027</c:v>
                </c:pt>
                <c:pt idx="1">
                  <c:v>-0.004</c:v>
                </c:pt>
                <c:pt idx="2">
                  <c:v>0.017</c:v>
                </c:pt>
                <c:pt idx="3">
                  <c:v>0.006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132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C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A9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讲义：开讲之前。30 秒：机器很会找规律，也很会找假规律；整套方法就是放开找、用规则挡假规律。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讲义：开讲之前。念完三个问题即可，不展开。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1.1。指着左表讲：两列排名越一致，规则越有用。示意数据。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1.2。IC 很小但每天赢一点、几十只一起下注，累积可观。数量感：0.01–0.03。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2。为什么限制：同一搜索空间、可确定性计算、安全。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3。例子：波动率因子样本内 0.021、留出 −0.003。互动：为什么加密用宽松档。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4.1–4.3。教练带学生的比喻；四步各自谁在做、产出什么。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4.4。数值为示意。重点：第三轮零接受是允许的。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4.5–4.7。演示：网站因子挖掘板块 LLM 引擎，每轮显示接受/拒绝理由，教训跨会话保存。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5。两条路找法不同、判卷一样，产出进同一个因子库。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6。为什么跑输：只买 5 只放大波动、每 10 天换仓吃收益、再平衡时点未必合适。IC 是门票，组合回测是成绩单。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7。这是真正的考试，回测错不了，是市场变了；及时降权或下线。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8。多重比较最隐蔽，留出确认和重复度约束就是针对它。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讲义 9。收尾 30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pic>
        <p:nvPicPr>
          <p:cNvPr id="1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731520" cy="731520"/>
          </a:xfrm>
          <a:prstGeom prst="rect">
            <a:avLst/>
          </a:prstGeom>
        </p:spPr>
      </p:pic>
      <p:sp>
        <p:nvSpPr>
          <p:cNvPr id="115" name="Text 112"/>
          <p:cNvSpPr txBox="1"/>
          <p:nvPr/>
        </p:nvSpPr>
        <p:spPr>
          <a:xfrm>
            <a:off x="548640" y="1554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因子挖掘</a:t>
            </a:r>
            <a:endParaRPr lang="en-US" sz="4200" dirty="0"/>
          </a:p>
        </p:txBody>
      </p:sp>
      <p:sp>
        <p:nvSpPr>
          <p:cNvPr id="116" name="Text 113"/>
          <p:cNvSpPr txBox="1"/>
          <p:nvPr/>
        </p:nvSpPr>
        <p:spPr>
          <a:xfrm>
            <a:off x="548640" y="2377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让机器找信号，让规则守底线 —— 15 分钟</a:t>
            </a:r>
            <a:endParaRPr lang="en-US" sz="1700" dirty="0"/>
          </a:p>
        </p:txBody>
      </p:sp>
      <p:sp>
        <p:nvSpPr>
          <p:cNvPr id="117" name="Text 114"/>
          <p:cNvSpPr txBox="1"/>
          <p:nvPr/>
        </p:nvSpPr>
        <p:spPr>
          <a:xfrm>
            <a:off x="548640" y="3200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AIQUANT TERMINAL 的「因子挖掘」板块为例：Loop Engineering 闭环挖掘 + 遗传进化，全程样本外验证</a:t>
            </a:r>
            <a:endParaRPr lang="en-US" sz="1150" dirty="0"/>
          </a:p>
        </p:txBody>
      </p:sp>
      <p:sp>
        <p:nvSpPr>
          <p:cNvPr id="118" name="Shape 115"/>
          <p:cNvSpPr/>
          <p:nvPr/>
        </p:nvSpPr>
        <p:spPr>
          <a:xfrm>
            <a:off x="4700016" y="905256"/>
            <a:ext cx="4133088" cy="2624328"/>
          </a:xfrm>
          <a:prstGeom prst="roundRect">
            <a:avLst>
              <a:gd name="adj" fmla="val 2787"/>
            </a:avLst>
          </a:prstGeom>
          <a:solidFill>
            <a:srgbClr val="13213A"/>
          </a:solidFill>
          <a:ln w="9525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1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60120"/>
            <a:ext cx="4023360" cy="2514600"/>
          </a:xfrm>
          <a:prstGeom prst="rect">
            <a:avLst/>
          </a:prstGeom>
        </p:spPr>
      </p:pic>
      <p:sp>
        <p:nvSpPr>
          <p:cNvPr id="120" name="Text 116"/>
          <p:cNvSpPr txBox="1"/>
          <p:nvPr/>
        </p:nvSpPr>
        <p:spPr>
          <a:xfrm>
            <a:off x="4754880" y="3538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主界面（真实截图）</a:t>
            </a:r>
            <a:endParaRPr lang="en-US" sz="850" dirty="0"/>
          </a:p>
        </p:txBody>
      </p:sp>
      <p:sp>
        <p:nvSpPr>
          <p:cNvPr id="121" name="Text 117"/>
          <p:cNvSpPr txBox="1"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aiquant-rust.vercel.app · 因子挖掘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这堂课要回答的三个问题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接下来的每一页都在回答其中之一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2/14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4828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691640"/>
            <a:ext cx="914400" cy="9144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8928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什么叫因子？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46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怎么判断一个因子好不好？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651760" cy="2926080"/>
          </a:xfrm>
          <a:prstGeom prst="roundRect">
            <a:avLst>
              <a:gd name="adj" fmla="val 4828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60520" y="1691640"/>
            <a:ext cx="914400" cy="9144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89280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机器怎样自动找因子？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246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怎样让它一轮比一轮找得更好（Loop Engineering）？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463040"/>
            <a:ext cx="2651760" cy="2926080"/>
          </a:xfrm>
          <a:prstGeom prst="roundRect">
            <a:avLst>
              <a:gd name="adj" fmla="val 4828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95160" y="1691640"/>
            <a:ext cx="914400" cy="914400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89280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9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找到之后呢？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246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怎样变成能赚钱的组合？上线后怎么知道它还灵不灵？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什么是因子：给全班每天打一个分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同一天把所有股票放在一起比 —— 横截面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3/14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914400" cy="329184"/>
          </a:xfrm>
          <a:prstGeom prst="rect">
            <a:avLst/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71600" y="1463040"/>
            <a:ext cx="777240" cy="329184"/>
          </a:xfrm>
          <a:prstGeom prst="rect">
            <a:avLst/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4630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463040"/>
            <a:ext cx="548640" cy="329184"/>
          </a:xfrm>
          <a:prstGeom prst="rect">
            <a:avLst/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1463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463040"/>
            <a:ext cx="914400" cy="329184"/>
          </a:xfrm>
          <a:prstGeom prst="rect">
            <a:avLst/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天后收益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1463040"/>
            <a:ext cx="548640" cy="329184"/>
          </a:xfrm>
          <a:prstGeom prst="rect">
            <a:avLst/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1463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79222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AAPL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1792224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17922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1792224"/>
            <a:ext cx="548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48840" y="17922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179222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97480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+3.1%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11880" y="1792224"/>
            <a:ext cx="548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17922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121408"/>
            <a:ext cx="91440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1214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NVDA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2121408"/>
            <a:ext cx="7772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21214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48840" y="2121408"/>
            <a:ext cx="5486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48840" y="21214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97480" y="2121408"/>
            <a:ext cx="91440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97480" y="21214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+4.0%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11880" y="2121408"/>
            <a:ext cx="5486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11880" y="21214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45059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450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2450592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371600" y="24505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48840" y="2450592"/>
            <a:ext cx="548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148840" y="24505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97480" y="245059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97480" y="2450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+1.2%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11880" y="2450592"/>
            <a:ext cx="548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11880" y="24505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2779776"/>
            <a:ext cx="91440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2779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TSLA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71600" y="2779776"/>
            <a:ext cx="7772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71600" y="27797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48840" y="2779776"/>
            <a:ext cx="5486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148840" y="27797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97480" y="2779776"/>
            <a:ext cx="91440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697480" y="2779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8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11880" y="2779776"/>
            <a:ext cx="5486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611880" y="27797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310896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371600" y="3108960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371600" y="31089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148840" y="3108960"/>
            <a:ext cx="548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148840" y="31089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697480" y="310896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697480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11880" y="3108960"/>
            <a:ext cx="548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611880" y="31089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3438144"/>
            <a:ext cx="91440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3438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AMZN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371600" y="3438144"/>
            <a:ext cx="7772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371600" y="34381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148840" y="3438144"/>
            <a:ext cx="5486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148840" y="34381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697480" y="3438144"/>
            <a:ext cx="91440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697480" y="3438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8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-2.2%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611880" y="3438144"/>
            <a:ext cx="548640" cy="329184"/>
          </a:xfrm>
          <a:prstGeom prst="rect">
            <a:avLst/>
          </a:prstGeom>
          <a:solidFill>
            <a:srgbClr val="EEF6FA"/>
          </a:solidFill>
          <a:ln w="6350">
            <a:solidFill>
              <a:srgbClr val="E3ECF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611880" y="34381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45720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同一天 · 60 只股票各打一分 → 排序 → 看 10 天后收益的排序是否一致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480560" y="14630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617720" y="1536192"/>
            <a:ext cx="3931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rank(delta(close, 20))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「20 日涨幅」在全市场的排名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最朴素的动量因子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4480560" y="26974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 = 打分规则。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分数本身不重要，重要的是排序：今天分高的那批，接下来十天是不是整体跑赢分低的那批。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不是在预测某一只股票，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而是在同一天把所有股票横着比。这是因子研究与普通看盘最不一样的地方。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怎么判断因子好不好：IC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今天的排名和十天后收益的排名有多一致，从 −1 到 1，每天算一个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4/14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41732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16752" y="1563624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6" y="166420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0" y="1581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看平均值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IC 离 0 多远 = 预测力。美股日频 0.02 已可用，0.05 以上先怀疑偷看未来。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52160" y="301752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16752" y="3163824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32644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83680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看抖不抖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03504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ICIR = 平均值 ÷ 波动，衡量「稳定地有用」。全靠几天暴涨撑起来的因子，ICIR 很低。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因子长什么样：一套固定的积木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机器能生成、程序能校验、人能看懂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5/14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63624"/>
            <a:ext cx="457200" cy="457200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6642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5819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开盘、最高、最低、收盘、成交量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28032" y="1563624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66420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15819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沿时间看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 N 天的平均、标准差、最大最小、排名、变化量、相关性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" y="2935224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3580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88720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横着比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排名、标准化：把不同股票放到同一尺度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7889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28032" y="2935224"/>
            <a:ext cx="457200" cy="4572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03580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394960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小零件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加减乘除、绝对值、对数、开方、取符号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4279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rank(ts_corr(close, volume, 20))   ← 「过去 20 天价量相关性」的全市场排名，抓价涨量增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硬规则：长度 ≤ 240 字 · 嵌套 ≤ 10 层 · 窗口 1–120 天 · 全空值或常数直接拒绝 · 裸价格/裸成交量不算因子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怎么判卷：模拟考、高考和录取线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样本内可以反复练，留出集只考一次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6/14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80% · 样本内（模拟考）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1005840" cy="457200"/>
          </a:xfrm>
          <a:prstGeom prst="rect">
            <a:avLst/>
          </a:prstGeom>
          <a:solidFill>
            <a:srgbClr val="D9485F"/>
          </a:solidFill>
          <a:ln w="12700">
            <a:solidFill>
              <a:srgbClr val="D948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20% 高考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544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9788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8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留出集不进反馈，只考一次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103120"/>
          <a:ext cx="47548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2103120"/>
          <a:ext cx="3246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68680"/>
                <a:gridCol w="68580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样本内 IC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ICIR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0.020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0.25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少而精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0.015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0.15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 · 美股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0.010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0.08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加密：噪声大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5440680" y="3566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三档只放宽样本内的线；高考那关谁都不豁免：方向一致，强度 ≥ 录取线的一半。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Engineering：让机器一轮比一轮找得好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把成绩单和错题本放回下一轮题目 —— 变的是上下文，不是模型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7/14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34440" y="1874520"/>
            <a:ext cx="2286000" cy="2286000"/>
          </a:xfrm>
          <a:prstGeom prst="ellipse">
            <a:avLst/>
          </a:prstGeom>
          <a:ln w="19050">
            <a:solidFill>
              <a:srgbClr val="C9D8E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075688" y="1572768"/>
            <a:ext cx="603504" cy="603504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459" y="1705539"/>
            <a:ext cx="337962" cy="3379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005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写候选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18688" y="2715768"/>
            <a:ext cx="603504" cy="60350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59" y="2848539"/>
            <a:ext cx="337962" cy="3379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04488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程序打分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075688" y="3858768"/>
            <a:ext cx="603504" cy="6035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459" y="3991539"/>
            <a:ext cx="337962" cy="3379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4526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归纳教训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32688" y="2715768"/>
            <a:ext cx="603504" cy="603504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459" y="2848539"/>
            <a:ext cx="337962" cy="33796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-246888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A9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组装下一轮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16459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顺时针循环 →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08576" y="1362456"/>
            <a:ext cx="4133088" cy="989838"/>
          </a:xfrm>
          <a:prstGeom prst="roundRect">
            <a:avLst>
              <a:gd name="adj" fmla="val 7390"/>
            </a:avLst>
          </a:prstGeom>
          <a:solidFill>
            <a:srgbClr val="13213A"/>
          </a:solidFill>
          <a:ln w="9525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417320"/>
            <a:ext cx="4023360" cy="88011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63440" y="236143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网站「因子挖掘」板块：选市场、门槛、轮数后开始循环（真实截图）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4663440" y="324612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846320" y="3410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两句话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84632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不是多聊几轮：成绩单和错题本原样进入下一轮。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打分的是程序：语法→IC→留出→重复→成本逐项检查，AI 不给自己打分。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完整走一遍：三轮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错误逐轮消失，方向逐轮迁移 —— 是错题本推的，不是 AI 自发的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8/14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246888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候选（人话）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写进错题本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rank(delta(close,20))　20 天涨幅排名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A97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样本内 0.024 · 留出 0.019 · 接受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rank(ts_mean(volume,500))　500 天均量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48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 &gt; 120 · 语法拒绝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窗口必须在 1–120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rank(close/delay(close,20))　现价/20天前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48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与第 1 条相关 0.99 · 重复拒绝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现价/过去价 与 价格变化量 是同一信号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rank(ts_std(close,10))　10 天波动率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48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样本内 0.021 · 留出 −0.003 · 留出拒绝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短窗口波动率在本样本不成立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rank(ts_corr(close,volume,20))　量价相关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A97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样本内 0.016 · 留出 0.011 · 接受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量价背离、成交量相对变化、区间位置…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接受 · 2 因与量价族相关 0.8 拒绝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量价相关族已覆盖，转向成交量自身变化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区间位置 × 成交量相对变化 等组合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48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接受 —— 合法结果，不放水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新增两条；下次不必重踩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第二轮的题目多了：两条已入库因子 + 三条教训 + 「动量以外，优先量价」的方向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什么能进下一轮，什么绝对不能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可以知道「这条路不通」，不能知道「往哪边微调就能通过」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9/14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能进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38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19019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已入库因子的表达式和样本内成绩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042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22677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被拒候选的一句话理由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7004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6334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重复拒绝时和库里哪一条撞了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3580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29992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留出集「过 / 没过」（只给二值）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663440" y="14173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DECEF"/>
          </a:solidFill>
          <a:ln w="9525">
            <a:solidFill>
              <a:srgbClr val="F3C6CE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8463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绝对不能进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93852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66360" y="19019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留出集的具体分数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0428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166360" y="22677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逐日 IC 序列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484632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48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一旦给了具体分数，AI 就能顺着它微调，留出集就变成了第二个样本内，整个验证失效。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会坏在哪里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平台对策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越找越像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在成功方向上小修小改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 &gt; 0.7 拒绝；每轮要求新方向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对着样本内背题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反复看到样本内成绩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留出一票否决，分数不进反馈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为了有结果放水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人和机器都想有产出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允许零接受，不降门槛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另一条路：不用 AI 的进化搜索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把表达式当作一棵树，随机组合、优胜劣汰、交叉变异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10/14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783080" y="1463040"/>
            <a:ext cx="1051560" cy="329184"/>
          </a:xfrm>
          <a:prstGeom prst="roundRect">
            <a:avLst>
              <a:gd name="adj" fmla="val 27778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14630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04288" y="1792224"/>
            <a:ext cx="0" cy="310896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2103120"/>
            <a:ext cx="1051560" cy="329184"/>
          </a:xfrm>
          <a:prstGeom prst="roundRect">
            <a:avLst>
              <a:gd name="adj" fmla="val 27778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21031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flipH="1">
            <a:off x="1280160" y="2432304"/>
            <a:ext cx="1024128" cy="310896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04288" y="2432304"/>
            <a:ext cx="987552" cy="310896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43200"/>
            <a:ext cx="1051560" cy="329184"/>
          </a:xfrm>
          <a:prstGeom prst="roundRect">
            <a:avLst>
              <a:gd name="adj" fmla="val 27778"/>
            </a:avLst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432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ts_rank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743200"/>
            <a:ext cx="1051560" cy="329184"/>
          </a:xfrm>
          <a:prstGeom prst="roundRect">
            <a:avLst>
              <a:gd name="adj" fmla="val 27778"/>
            </a:avLst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27432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ts_rank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H="1">
            <a:off x="822960" y="3072384"/>
            <a:ext cx="475488" cy="310896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3072384"/>
            <a:ext cx="484632" cy="310896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2834640" y="3072384"/>
            <a:ext cx="475488" cy="310896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0128" y="3072384"/>
            <a:ext cx="484632" cy="310896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83280"/>
            <a:ext cx="914400" cy="329184"/>
          </a:xfrm>
          <a:prstGeom prst="roundRect">
            <a:avLst>
              <a:gd name="adj" fmla="val 27778"/>
            </a:avLst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383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3383280"/>
            <a:ext cx="777240" cy="329184"/>
          </a:xfrm>
          <a:prstGeom prst="roundRect">
            <a:avLst>
              <a:gd name="adj" fmla="val 2777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33832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3383280"/>
            <a:ext cx="914400" cy="329184"/>
          </a:xfrm>
          <a:prstGeom prst="roundRect">
            <a:avLst>
              <a:gd name="adj" fmla="val 27778"/>
            </a:avLst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3383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383280"/>
            <a:ext cx="777240" cy="329184"/>
          </a:xfrm>
          <a:prstGeom prst="roundRect">
            <a:avLst>
              <a:gd name="adj" fmla="val 2777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3832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86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rank(ts_rank(volume,10) − ts_rank(close,10))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 30 代后名人堂里的一条：量在涨、价还没跟上。人未必先想到，但拿到后解释得通。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08576" y="1362456"/>
            <a:ext cx="4133088" cy="2356325"/>
          </a:xfrm>
          <a:prstGeom prst="roundRect">
            <a:avLst>
              <a:gd name="adj" fmla="val 3104"/>
            </a:avLst>
          </a:prstGeom>
          <a:solidFill>
            <a:srgbClr val="13213A"/>
          </a:solidFill>
          <a:ln w="9525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4023360" cy="2246597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663440" y="372792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进化实验室：冠军演化与名人堂实时刷新（真实截图）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63440" y="3657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73168" y="3749040"/>
            <a:ext cx="329184" cy="32918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88" y="3821460"/>
            <a:ext cx="184343" cy="184343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175504" y="374904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适应度里的三条修正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4800600" y="41148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稳定加分 · 每多一块积木扣一点分 · 和已发现因子太像的打对折。每代前 8 名进名人堂。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从因子到组合：IC 好只是门票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10 根 K 线按因子排序，买前 5 名等权，扣手续费与滑点，永远对比买入持有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11/14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1362456"/>
            <a:ext cx="4312690" cy="3172968"/>
          </a:xfrm>
          <a:prstGeom prst="roundRect">
            <a:avLst>
              <a:gd name="adj" fmla="val 2305"/>
            </a:avLst>
          </a:prstGeom>
          <a:solidFill>
            <a:srgbClr val="13213A"/>
          </a:solidFill>
          <a:ln w="9525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202962" cy="3063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44568"/>
            <a:ext cx="42029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真实回测：Top-5 组合 +69% vs 基准 +90%，夏普 1.03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892040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累计收益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984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一定和基准放在一起看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0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年化收益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1984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便于跨不同长度比较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92040" y="297180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0" y="3108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夏普比率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35387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以上不错，2 以上警惕过拟合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0" y="297180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95160" y="3108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最大回撤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35387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决定你能不能拿得住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上线之后：因子会钝，要持续检查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回测回答「过去行不行」，前向跟踪回答「你上线之后行不行」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12/14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1362456"/>
            <a:ext cx="2583233" cy="3127248"/>
          </a:xfrm>
          <a:prstGeom prst="roundRect">
            <a:avLst>
              <a:gd name="adj" fmla="val 2832"/>
            </a:avLst>
          </a:prstGeom>
          <a:solidFill>
            <a:srgbClr val="13213A"/>
          </a:solidFill>
          <a:ln w="9525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473505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498848"/>
            <a:ext cx="2473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「体检」报告：五项评级 + 分层 + IC 衰减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91256" y="1362456"/>
            <a:ext cx="3755768" cy="3127248"/>
          </a:xfrm>
          <a:prstGeom prst="roundRect">
            <a:avLst>
              <a:gd name="adj" fmla="val 2339"/>
            </a:avLst>
          </a:prstGeom>
          <a:solidFill>
            <a:srgbClr val="13213A"/>
          </a:solidFill>
          <a:ln w="9525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17320"/>
            <a:ext cx="3646040" cy="3017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4498848"/>
            <a:ext cx="36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模拟持仓：上线后 vs 回测期，判定「边际增强」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989320" y="1417320"/>
            <a:ext cx="2697480" cy="1005840"/>
          </a:xfrm>
          <a:prstGeom prst="roundRect">
            <a:avLst>
              <a:gd name="adj" fmla="val 1090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99048" y="150876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468" y="1581180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01384" y="150876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衰减检测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126480" y="18745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60 / 120 天 IC 明显低于全样本 = 钝了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989320" y="2514600"/>
            <a:ext cx="2697480" cy="1005840"/>
          </a:xfrm>
          <a:prstGeom prst="roundRect">
            <a:avLst>
              <a:gd name="adj" fmla="val 1090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99048" y="2606040"/>
            <a:ext cx="329184" cy="329184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468" y="2678460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01384" y="260604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跨市场移植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126480" y="29718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美股因子放到加密重算：两边都成立更像真规律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989320" y="3611880"/>
            <a:ext cx="2697480" cy="1005840"/>
          </a:xfrm>
          <a:prstGeom prst="roundRect">
            <a:avLst>
              <a:gd name="adj" fmla="val 10909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099048" y="3703320"/>
            <a:ext cx="329184" cy="329184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468" y="3775740"/>
            <a:ext cx="184343" cy="18434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01384" y="370332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前向跟踪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6126480" y="40690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上线前后夏普并排：保持 / 衰减 / 增强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6576" cy="36576"/>
          </a:xfrm>
          <a:prstGeom prst="ellipse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几条不能破的底线</a:t>
            </a:r>
            <a:endParaRPr lang="en-US" sz="2600" dirty="0"/>
          </a:p>
        </p:txBody>
      </p:sp>
      <p:sp>
        <p:nvSpPr>
          <p:cNvPr id="115" name="Shape 113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1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380744"/>
            <a:ext cx="256032" cy="256032"/>
          </a:xfrm>
          <a:prstGeom prst="rect">
            <a:avLst/>
          </a:prstGeom>
        </p:spPr>
      </p:pic>
      <p:sp>
        <p:nvSpPr>
          <p:cNvPr id="117" name="Text 114"/>
          <p:cNvSpPr txBox="1"/>
          <p:nvPr/>
        </p:nvSpPr>
        <p:spPr>
          <a:xfrm>
            <a:off x="114300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留出集只考一次</a:t>
            </a:r>
            <a:endParaRPr lang="en-US" sz="1400" dirty="0"/>
          </a:p>
        </p:txBody>
      </p:sp>
      <p:sp>
        <p:nvSpPr>
          <p:cNvPr id="118" name="Text 115"/>
          <p:cNvSpPr txBox="1"/>
          <p:nvPr/>
        </p:nvSpPr>
        <p:spPr>
          <a:xfrm>
            <a:off x="356616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样本内随便练，留出集从不进反馈。</a:t>
            </a:r>
            <a:endParaRPr lang="en-US" sz="1200" dirty="0"/>
          </a:p>
        </p:txBody>
      </p:sp>
      <p:sp>
        <p:nvSpPr>
          <p:cNvPr id="119" name="Shape 116"/>
          <p:cNvSpPr/>
          <p:nvPr/>
        </p:nvSpPr>
        <p:spPr>
          <a:xfrm>
            <a:off x="548640" y="1883664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984248"/>
            <a:ext cx="256032" cy="256032"/>
          </a:xfrm>
          <a:prstGeom prst="rect">
            <a:avLst/>
          </a:prstGeom>
        </p:spPr>
      </p:pic>
      <p:sp>
        <p:nvSpPr>
          <p:cNvPr id="121" name="Text 117"/>
          <p:cNvSpPr txBox="1"/>
          <p:nvPr/>
        </p:nvSpPr>
        <p:spPr>
          <a:xfrm>
            <a:off x="1143000" y="1883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允许空手而归</a:t>
            </a:r>
            <a:endParaRPr lang="en-US" sz="1400" dirty="0"/>
          </a:p>
        </p:txBody>
      </p:sp>
      <p:sp>
        <p:nvSpPr>
          <p:cNvPr id="122" name="Text 118"/>
          <p:cNvSpPr txBox="1"/>
          <p:nvPr/>
        </p:nvSpPr>
        <p:spPr>
          <a:xfrm>
            <a:off x="3566160" y="1883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零接受是正常结果，说明这段数据在这个方向没有可靠信号。</a:t>
            </a:r>
            <a:endParaRPr lang="en-US" sz="1200" dirty="0"/>
          </a:p>
        </p:txBody>
      </p:sp>
      <p:sp>
        <p:nvSpPr>
          <p:cNvPr id="123" name="Shape 119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1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587752"/>
            <a:ext cx="256032" cy="256032"/>
          </a:xfrm>
          <a:prstGeom prst="rect">
            <a:avLst/>
          </a:prstGeom>
        </p:spPr>
      </p:pic>
      <p:sp>
        <p:nvSpPr>
          <p:cNvPr id="125" name="Text 120"/>
          <p:cNvSpPr txBox="1"/>
          <p:nvPr/>
        </p:nvSpPr>
        <p:spPr>
          <a:xfrm>
            <a:off x="114300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基准永远在图上</a:t>
            </a:r>
            <a:endParaRPr lang="en-US" sz="1400" dirty="0"/>
          </a:p>
        </p:txBody>
      </p:sp>
      <p:sp>
        <p:nvSpPr>
          <p:cNvPr id="126" name="Text 121"/>
          <p:cNvSpPr txBox="1"/>
          <p:nvPr/>
        </p:nvSpPr>
        <p:spPr>
          <a:xfrm>
            <a:off x="3566160" y="2487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任何净值曲线旁边都有买入持有。</a:t>
            </a:r>
            <a:endParaRPr lang="en-US" sz="1200" dirty="0"/>
          </a:p>
        </p:txBody>
      </p:sp>
      <p:sp>
        <p:nvSpPr>
          <p:cNvPr id="127" name="Shape 122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191256"/>
            <a:ext cx="256032" cy="256032"/>
          </a:xfrm>
          <a:prstGeom prst="rect">
            <a:avLst/>
          </a:prstGeom>
        </p:spPr>
      </p:pic>
      <p:sp>
        <p:nvSpPr>
          <p:cNvPr id="129" name="Text 123"/>
          <p:cNvSpPr txBox="1"/>
          <p:nvPr/>
        </p:nvSpPr>
        <p:spPr>
          <a:xfrm>
            <a:off x="1143000" y="3090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每一次拒绝都留痕</a:t>
            </a:r>
            <a:endParaRPr lang="en-US" sz="1400" dirty="0"/>
          </a:p>
        </p:txBody>
      </p:sp>
      <p:sp>
        <p:nvSpPr>
          <p:cNvPr id="130" name="Text 124"/>
          <p:cNvSpPr txBox="1"/>
          <p:nvPr/>
        </p:nvSpPr>
        <p:spPr>
          <a:xfrm>
            <a:off x="3566160" y="30906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被拒理由进错题本，供下一轮和下一个人看。</a:t>
            </a:r>
            <a:endParaRPr lang="en-US" sz="1200" dirty="0"/>
          </a:p>
        </p:txBody>
      </p:sp>
      <p:sp>
        <p:nvSpPr>
          <p:cNvPr id="131" name="Shape 125"/>
          <p:cNvSpPr/>
          <p:nvPr/>
        </p:nvSpPr>
        <p:spPr>
          <a:xfrm>
            <a:off x="548640" y="3694176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1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794760"/>
            <a:ext cx="256032" cy="256032"/>
          </a:xfrm>
          <a:prstGeom prst="rect">
            <a:avLst/>
          </a:prstGeom>
        </p:spPr>
      </p:pic>
      <p:sp>
        <p:nvSpPr>
          <p:cNvPr id="133" name="Text 126"/>
          <p:cNvSpPr txBox="1"/>
          <p:nvPr/>
        </p:nvSpPr>
        <p:spPr>
          <a:xfrm>
            <a:off x="1143000" y="36941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上线后继续考</a:t>
            </a:r>
            <a:endParaRPr lang="en-US" sz="1400" dirty="0"/>
          </a:p>
        </p:txBody>
      </p:sp>
      <p:sp>
        <p:nvSpPr>
          <p:cNvPr id="134" name="Text 127"/>
          <p:cNvSpPr txBox="1"/>
          <p:nvPr/>
        </p:nvSpPr>
        <p:spPr>
          <a:xfrm>
            <a:off x="3566160" y="36941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模拟持仓给出明确的衰减判定。</a:t>
            </a:r>
            <a:endParaRPr lang="en-US" sz="1200" dirty="0"/>
          </a:p>
        </p:txBody>
      </p:sp>
      <p:pic>
        <p:nvPicPr>
          <p:cNvPr id="1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70832"/>
            <a:ext cx="256032" cy="256032"/>
          </a:xfrm>
          <a:prstGeom prst="rect">
            <a:avLst/>
          </a:prstGeom>
        </p:spPr>
      </p:pic>
      <p:sp>
        <p:nvSpPr>
          <p:cNvPr id="136" name="Text 128"/>
          <p:cNvSpPr txBox="1"/>
          <p:nvPr/>
        </p:nvSpPr>
        <p:spPr>
          <a:xfrm>
            <a:off x="868680" y="43159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三个坑：前视偏差（用了当时不可能知道的数据）· 幸存者偏差（样本只剩活到今天的公司）· 多重比较（试一千个总有几十个碰巧显著）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总结：三句话带走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以及一份作业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因子挖掘 · 14/14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27048"/>
            <a:ext cx="512064" cy="512064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014" y="1639702"/>
            <a:ext cx="286756" cy="2867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因子是给股票打分的规则，IC 是给规则打分的尺子。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395728"/>
            <a:ext cx="512064" cy="5120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4" y="2508382"/>
            <a:ext cx="286756" cy="286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的核心是把成绩单和错题本放回下一轮，同时把留出集的分数锁起来。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31546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EF6FA"/>
          </a:solidFill>
          <a:ln w="9525">
            <a:solidFill>
              <a:srgbClr val="D6E4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3264408"/>
            <a:ext cx="512064" cy="512064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4" y="3377062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546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 是门票，组合回测是成绩单，上线后的前向跟踪才是最终考试。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3213A"/>
          </a:solidFill>
          <a:ln w="12700">
            <a:solidFill>
              <a:srgbClr val="13213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　</a:t>
            </a:r>
            <a:pPr indent="0" marL="0">
              <a:buNone/>
            </a:pPr>
            <a:r>
              <a:rPr lang="en-US" sz="105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用宽松档在加密市场跑一轮 LLM 挖掘，记录三轮里错题本的变化，200 字说明第三轮的题目比第一轮多了什么；再把接受的因子移植到美股，看 IC 变了多少。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因子挖掘 15 分钟</dc:title>
  <dc:subject>PptxGenJS Presentation</dc:subject>
  <dc:creator>PptxGenJS</dc:creator>
  <cp:lastModifiedBy>PptxGenJS</cp:lastModifiedBy>
  <cp:revision>1</cp:revision>
  <dcterms:created xsi:type="dcterms:W3CDTF">2026-09-05T09:07:07Z</dcterms:created>
  <dcterms:modified xsi:type="dcterms:W3CDTF">2026-09-05T09:07:07Z</dcterms:modified>
</cp:coreProperties>
</file>