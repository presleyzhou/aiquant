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3213A"/>
                </a:solidFill>
                <a:latin typeface="Microsoft YaHei"/>
              </a:defRPr>
            </a:pPr>
            <a:r>
              <a:rPr sz="1000" b="0" i="0" u="none" strike="noStrike">
                <a:solidFill>
                  <a:srgbClr val="13213A"/>
                </a:solidFill>
                <a:latin typeface="Microsoft YaHei"/>
              </a:rPr>
              <a:t>示意：一条因子的每日 IC（40 天）——平均在 0 上方一点，且抖动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每日 IC</c:v>
                </c:pt>
              </c:strCache>
            </c:strRef>
          </c:tx>
          <c:spPr>
            <a:solidFill>
              <a:srgbClr val="0FA8C9"/>
            </a:solidFill>
            <a:ln w="19050" cap="flat">
              <a:solidFill>
                <a:srgbClr val="0FA8C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A8C9"/>
              </a:solidFill>
              <a:ln w="9525" cap="flat">
                <a:solidFill>
                  <a:srgbClr val="0FA8C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</c:f>
              <c:multiLvlStrCache>
                <c:ptCount val="4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</c:lvl>
              </c:multiLvlStrCache>
            </c:multiLvl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0.022</c:v>
                </c:pt>
                <c:pt idx="1">
                  <c:v>0.112</c:v>
                </c:pt>
                <c:pt idx="2">
                  <c:v>0.012</c:v>
                </c:pt>
                <c:pt idx="3">
                  <c:v>-0.035</c:v>
                </c:pt>
                <c:pt idx="4">
                  <c:v>-0.018</c:v>
                </c:pt>
                <c:pt idx="5">
                  <c:v>-0.065</c:v>
                </c:pt>
                <c:pt idx="6">
                  <c:v>0.091</c:v>
                </c:pt>
                <c:pt idx="7">
                  <c:v>0.055</c:v>
                </c:pt>
                <c:pt idx="8">
                  <c:v>0.03</c:v>
                </c:pt>
                <c:pt idx="9">
                  <c:v>0.05</c:v>
                </c:pt>
                <c:pt idx="10">
                  <c:v>-0.16</c:v>
                </c:pt>
                <c:pt idx="11">
                  <c:v>0.006</c:v>
                </c:pt>
                <c:pt idx="12">
                  <c:v>0.089</c:v>
                </c:pt>
                <c:pt idx="13">
                  <c:v>0.021</c:v>
                </c:pt>
                <c:pt idx="14">
                  <c:v>0.078</c:v>
                </c:pt>
                <c:pt idx="15">
                  <c:v>-0.014</c:v>
                </c:pt>
                <c:pt idx="16">
                  <c:v>-0.073</c:v>
                </c:pt>
                <c:pt idx="17">
                  <c:v>-0.012</c:v>
                </c:pt>
                <c:pt idx="18">
                  <c:v>0.038</c:v>
                </c:pt>
                <c:pt idx="19">
                  <c:v>0.055</c:v>
                </c:pt>
                <c:pt idx="20">
                  <c:v>0.071</c:v>
                </c:pt>
                <c:pt idx="21">
                  <c:v>-0.078</c:v>
                </c:pt>
                <c:pt idx="22">
                  <c:v>-0.004</c:v>
                </c:pt>
                <c:pt idx="23">
                  <c:v>0.058</c:v>
                </c:pt>
                <c:pt idx="24">
                  <c:v>-0.059</c:v>
                </c:pt>
                <c:pt idx="25">
                  <c:v>0.105</c:v>
                </c:pt>
                <c:pt idx="26">
                  <c:v>-0.002</c:v>
                </c:pt>
                <c:pt idx="27">
                  <c:v>-0.069</c:v>
                </c:pt>
                <c:pt idx="28">
                  <c:v>0.045</c:v>
                </c:pt>
                <c:pt idx="29">
                  <c:v>0.011</c:v>
                </c:pt>
                <c:pt idx="30">
                  <c:v>0.071</c:v>
                </c:pt>
                <c:pt idx="31">
                  <c:v>0.011</c:v>
                </c:pt>
                <c:pt idx="32">
                  <c:v>-0.065</c:v>
                </c:pt>
                <c:pt idx="33">
                  <c:v>-0.006</c:v>
                </c:pt>
                <c:pt idx="34">
                  <c:v>0.024</c:v>
                </c:pt>
                <c:pt idx="35">
                  <c:v>0.011</c:v>
                </c:pt>
                <c:pt idx="36">
                  <c:v>0.124</c:v>
                </c:pt>
                <c:pt idx="37">
                  <c:v>0.015</c:v>
                </c:pt>
                <c:pt idx="38">
                  <c:v>-0.132</c:v>
                </c:pt>
                <c:pt idx="39">
                  <c:v>0.028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9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5"/>
      </c:catAx>
      <c:valAx>
        <c:axId val="2094734552"/>
        <c:scaling>
          <c:orientation val="minMax"/>
          <c:max val="0.15"/>
          <c:min val="-0.15"/>
        </c:scaling>
        <c:delete val="0"/>
        <c:axPos val="l"/>
        <c:majorGridlines>
          <c:spPr>
            <a:ln w="6350" cap="flat">
              <a:solidFill>
                <a:srgbClr val="E3ECF2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A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3213A"/>
                </a:solidFill>
                <a:latin typeface="Microsoft YaHei"/>
              </a:defRPr>
            </a:pPr>
            <a:r>
              <a:rPr sz="1000" b="0" i="0" u="none" strike="noStrike">
                <a:solidFill>
                  <a:srgbClr val="13213A"/>
                </a:solidFill>
                <a:latin typeface="Microsoft YaHei"/>
              </a:rPr>
              <a:t>示意：样本内漂亮 ≠ 高考成立（B、D 被拒）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样本内 IC</c:v>
                </c:pt>
              </c:strCache>
            </c:strRef>
          </c:tx>
          <c:spPr>
            <a:solidFill>
              <a:srgbClr val="0FA8C9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321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候选 A</c:v>
                  </c:pt>
                  <c:pt idx="1">
                    <c:v>候选 B</c:v>
                  </c:pt>
                  <c:pt idx="2">
                    <c:v>候选 C</c:v>
                  </c:pt>
                  <c:pt idx="3">
                    <c:v>候选 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0.031</c:v>
                </c:pt>
                <c:pt idx="1">
                  <c:v>0.024</c:v>
                </c:pt>
                <c:pt idx="2">
                  <c:v>0.019</c:v>
                </c:pt>
                <c:pt idx="3">
                  <c:v>0.022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留出 IC</c:v>
                </c:pt>
              </c:strCache>
            </c:strRef>
          </c:tx>
          <c:spPr>
            <a:solidFill>
              <a:srgbClr val="D9485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321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候选 A</c:v>
                  </c:pt>
                  <c:pt idx="1">
                    <c:v>候选 B</c:v>
                  </c:pt>
                  <c:pt idx="2">
                    <c:v>候选 C</c:v>
                  </c:pt>
                  <c:pt idx="3">
                    <c:v>候选 D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0.027</c:v>
                </c:pt>
                <c:pt idx="1">
                  <c:v>-0.004</c:v>
                </c:pt>
                <c:pt idx="2">
                  <c:v>0.017</c:v>
                </c:pt>
                <c:pt idx="3">
                  <c:v>0.006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800" u="none">
                  <a:solidFill>
                    <a:srgbClr val="1321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9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CF2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A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B7A9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3213A"/>
                </a:solidFill>
                <a:latin typeface="Microsoft YaHei"/>
              </a:defRPr>
            </a:pPr>
            <a:r>
              <a:rPr sz="1000" b="0" i="0" u="none" strike="noStrike">
                <a:solidFill>
                  <a:srgbClr val="13213A"/>
                </a:solidFill>
                <a:latin typeface="Microsoft YaHei"/>
              </a:rPr>
              <a:t>示意：IC 0.03 的因子做成 Top-5 组合，两年 +38% vs 基准 +41%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因子组合（Top-5）</c:v>
                </c:pt>
              </c:strCache>
            </c:strRef>
          </c:tx>
          <c:spPr>
            <a:solidFill>
              <a:srgbClr val="0FA8C9"/>
            </a:solidFill>
            <a:ln w="22860" cap="flat">
              <a:solidFill>
                <a:srgbClr val="0FA8C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A8C9"/>
              </a:solidFill>
              <a:ln w="9525" cap="flat">
                <a:solidFill>
                  <a:srgbClr val="0FA8C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Sheet1!$A$2:$A$61</c:f>
              <c:multiLvlStrCache>
                <c:ptCount val="6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</c:lvl>
              </c:multiLvlStrCache>
            </c:multiLvlStrRef>
          </c:cat>
          <c:val>
            <c:numRef>
              <c:f>Sheet1!$B$2:$B$61</c:f>
              <c:numCache>
                <c:formatCode>General</c:formatCode>
                <c:ptCount val="60"/>
                <c:pt idx="0">
                  <c:v>100.3</c:v>
                </c:pt>
                <c:pt idx="1">
                  <c:v>100.7</c:v>
                </c:pt>
                <c:pt idx="2">
                  <c:v>101.2</c:v>
                </c:pt>
                <c:pt idx="3">
                  <c:v>101.8</c:v>
                </c:pt>
                <c:pt idx="4">
                  <c:v>102.5</c:v>
                </c:pt>
                <c:pt idx="5">
                  <c:v>103.2</c:v>
                </c:pt>
                <c:pt idx="6">
                  <c:v>104</c:v>
                </c:pt>
                <c:pt idx="7">
                  <c:v>104.9</c:v>
                </c:pt>
                <c:pt idx="8">
                  <c:v>105.8</c:v>
                </c:pt>
                <c:pt idx="9">
                  <c:v>106.6</c:v>
                </c:pt>
                <c:pt idx="10">
                  <c:v>107.5</c:v>
                </c:pt>
                <c:pt idx="11">
                  <c:v>108.2</c:v>
                </c:pt>
                <c:pt idx="12">
                  <c:v>108.9</c:v>
                </c:pt>
                <c:pt idx="13">
                  <c:v>109.5</c:v>
                </c:pt>
                <c:pt idx="14">
                  <c:v>110.1</c:v>
                </c:pt>
                <c:pt idx="15">
                  <c:v>110.5</c:v>
                </c:pt>
                <c:pt idx="16">
                  <c:v>110.7</c:v>
                </c:pt>
                <c:pt idx="17">
                  <c:v>110.9</c:v>
                </c:pt>
                <c:pt idx="18">
                  <c:v>110.9</c:v>
                </c:pt>
                <c:pt idx="19">
                  <c:v>110.9</c:v>
                </c:pt>
                <c:pt idx="20">
                  <c:v>110.7</c:v>
                </c:pt>
                <c:pt idx="21">
                  <c:v>110.5</c:v>
                </c:pt>
                <c:pt idx="22">
                  <c:v>110.2</c:v>
                </c:pt>
                <c:pt idx="23">
                  <c:v>109.9</c:v>
                </c:pt>
                <c:pt idx="24">
                  <c:v>109.6</c:v>
                </c:pt>
                <c:pt idx="25">
                  <c:v>109.4</c:v>
                </c:pt>
                <c:pt idx="26">
                  <c:v>109.1</c:v>
                </c:pt>
                <c:pt idx="27">
                  <c:v>109</c:v>
                </c:pt>
                <c:pt idx="28">
                  <c:v>108.9</c:v>
                </c:pt>
                <c:pt idx="29">
                  <c:v>108.9</c:v>
                </c:pt>
                <c:pt idx="30">
                  <c:v>109.1</c:v>
                </c:pt>
                <c:pt idx="31">
                  <c:v>109.3</c:v>
                </c:pt>
                <c:pt idx="32">
                  <c:v>109.7</c:v>
                </c:pt>
                <c:pt idx="33">
                  <c:v>110.2</c:v>
                </c:pt>
                <c:pt idx="34">
                  <c:v>110.8</c:v>
                </c:pt>
                <c:pt idx="35">
                  <c:v>111.5</c:v>
                </c:pt>
                <c:pt idx="36">
                  <c:v>112.3</c:v>
                </c:pt>
                <c:pt idx="37">
                  <c:v>113.2</c:v>
                </c:pt>
                <c:pt idx="38">
                  <c:v>114.1</c:v>
                </c:pt>
                <c:pt idx="39">
                  <c:v>115</c:v>
                </c:pt>
                <c:pt idx="40">
                  <c:v>116</c:v>
                </c:pt>
                <c:pt idx="41">
                  <c:v>116.9</c:v>
                </c:pt>
                <c:pt idx="42">
                  <c:v>117.8</c:v>
                </c:pt>
                <c:pt idx="43">
                  <c:v>118.6</c:v>
                </c:pt>
                <c:pt idx="44">
                  <c:v>119.3</c:v>
                </c:pt>
                <c:pt idx="45">
                  <c:v>119.9</c:v>
                </c:pt>
                <c:pt idx="46">
                  <c:v>120.4</c:v>
                </c:pt>
                <c:pt idx="47">
                  <c:v>120.8</c:v>
                </c:pt>
                <c:pt idx="48">
                  <c:v>121</c:v>
                </c:pt>
                <c:pt idx="49">
                  <c:v>121.1</c:v>
                </c:pt>
                <c:pt idx="50">
                  <c:v>121</c:v>
                </c:pt>
                <c:pt idx="51">
                  <c:v>120.9</c:v>
                </c:pt>
                <c:pt idx="52">
                  <c:v>120.7</c:v>
                </c:pt>
                <c:pt idx="53">
                  <c:v>120.4</c:v>
                </c:pt>
                <c:pt idx="54">
                  <c:v>120.1</c:v>
                </c:pt>
                <c:pt idx="55">
                  <c:v>119.8</c:v>
                </c:pt>
                <c:pt idx="56">
                  <c:v>119.5</c:v>
                </c:pt>
                <c:pt idx="57">
                  <c:v>119.2</c:v>
                </c:pt>
                <c:pt idx="58">
                  <c:v>119</c:v>
                </c:pt>
                <c:pt idx="59">
                  <c:v>118.9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等权买入持有（基准）</c:v>
                </c:pt>
              </c:strCache>
            </c:strRef>
          </c:tx>
          <c:spPr>
            <a:solidFill>
              <a:srgbClr val="6B7A90"/>
            </a:solidFill>
            <a:ln w="22860" cap="flat">
              <a:solidFill>
                <a:srgbClr val="6B7A9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6B7A90"/>
              </a:solidFill>
              <a:ln w="9525" cap="flat">
                <a:solidFill>
                  <a:srgbClr val="6B7A9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Sheet1!$A$2:$A$61</c:f>
              <c:multiLvlStrCache>
                <c:ptCount val="6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</c:lvl>
              </c:multiLvlStrCache>
            </c:multiLvlStrRef>
          </c:cat>
          <c:val>
            <c:numRef>
              <c:f>Sheet1!$C$2:$C$61</c:f>
              <c:numCache>
                <c:formatCode>General</c:formatCode>
                <c:ptCount val="60"/>
                <c:pt idx="0">
                  <c:v>100.7</c:v>
                </c:pt>
                <c:pt idx="1">
                  <c:v>101.4</c:v>
                </c:pt>
                <c:pt idx="2">
                  <c:v>102.1</c:v>
                </c:pt>
                <c:pt idx="3">
                  <c:v>102.8</c:v>
                </c:pt>
                <c:pt idx="4">
                  <c:v>103.5</c:v>
                </c:pt>
                <c:pt idx="5">
                  <c:v>104.1</c:v>
                </c:pt>
                <c:pt idx="6">
                  <c:v>104.7</c:v>
                </c:pt>
                <c:pt idx="7">
                  <c:v>105.3</c:v>
                </c:pt>
                <c:pt idx="8">
                  <c:v>105.8</c:v>
                </c:pt>
                <c:pt idx="9">
                  <c:v>106.2</c:v>
                </c:pt>
                <c:pt idx="10">
                  <c:v>106.6</c:v>
                </c:pt>
                <c:pt idx="11">
                  <c:v>106.9</c:v>
                </c:pt>
                <c:pt idx="12">
                  <c:v>107.2</c:v>
                </c:pt>
                <c:pt idx="13">
                  <c:v>107.4</c:v>
                </c:pt>
                <c:pt idx="14">
                  <c:v>107.6</c:v>
                </c:pt>
                <c:pt idx="15">
                  <c:v>107.7</c:v>
                </c:pt>
                <c:pt idx="16">
                  <c:v>107.7</c:v>
                </c:pt>
                <c:pt idx="17">
                  <c:v>107.7</c:v>
                </c:pt>
                <c:pt idx="18">
                  <c:v>107.7</c:v>
                </c:pt>
                <c:pt idx="19">
                  <c:v>107.6</c:v>
                </c:pt>
                <c:pt idx="20">
                  <c:v>107.6</c:v>
                </c:pt>
                <c:pt idx="21">
                  <c:v>107.5</c:v>
                </c:pt>
                <c:pt idx="22">
                  <c:v>107.4</c:v>
                </c:pt>
                <c:pt idx="23">
                  <c:v>107.3</c:v>
                </c:pt>
                <c:pt idx="24">
                  <c:v>107.2</c:v>
                </c:pt>
                <c:pt idx="25">
                  <c:v>107.1</c:v>
                </c:pt>
                <c:pt idx="26">
                  <c:v>107.1</c:v>
                </c:pt>
                <c:pt idx="27">
                  <c:v>107.1</c:v>
                </c:pt>
                <c:pt idx="28">
                  <c:v>107.2</c:v>
                </c:pt>
                <c:pt idx="29">
                  <c:v>107.3</c:v>
                </c:pt>
                <c:pt idx="30">
                  <c:v>107.4</c:v>
                </c:pt>
                <c:pt idx="31">
                  <c:v>107.6</c:v>
                </c:pt>
                <c:pt idx="32">
                  <c:v>107.9</c:v>
                </c:pt>
                <c:pt idx="33">
                  <c:v>108.2</c:v>
                </c:pt>
                <c:pt idx="34">
                  <c:v>108.6</c:v>
                </c:pt>
                <c:pt idx="35">
                  <c:v>109.1</c:v>
                </c:pt>
                <c:pt idx="36">
                  <c:v>109.6</c:v>
                </c:pt>
                <c:pt idx="37">
                  <c:v>110.2</c:v>
                </c:pt>
                <c:pt idx="38">
                  <c:v>110.8</c:v>
                </c:pt>
                <c:pt idx="39">
                  <c:v>111.5</c:v>
                </c:pt>
                <c:pt idx="40">
                  <c:v>112.2</c:v>
                </c:pt>
                <c:pt idx="41">
                  <c:v>113</c:v>
                </c:pt>
                <c:pt idx="42">
                  <c:v>113.8</c:v>
                </c:pt>
                <c:pt idx="43">
                  <c:v>114.6</c:v>
                </c:pt>
                <c:pt idx="44">
                  <c:v>115.4</c:v>
                </c:pt>
                <c:pt idx="45">
                  <c:v>116.2</c:v>
                </c:pt>
                <c:pt idx="46">
                  <c:v>117</c:v>
                </c:pt>
                <c:pt idx="47">
                  <c:v>117.8</c:v>
                </c:pt>
                <c:pt idx="48">
                  <c:v>118.6</c:v>
                </c:pt>
                <c:pt idx="49">
                  <c:v>119.3</c:v>
                </c:pt>
                <c:pt idx="50">
                  <c:v>120</c:v>
                </c:pt>
                <c:pt idx="51">
                  <c:v>120.6</c:v>
                </c:pt>
                <c:pt idx="52">
                  <c:v>121.2</c:v>
                </c:pt>
                <c:pt idx="53">
                  <c:v>121.7</c:v>
                </c:pt>
                <c:pt idx="54">
                  <c:v>122.1</c:v>
                </c:pt>
                <c:pt idx="55">
                  <c:v>122.5</c:v>
                </c:pt>
                <c:pt idx="56">
                  <c:v>122.8</c:v>
                </c:pt>
                <c:pt idx="57">
                  <c:v>123.1</c:v>
                </c:pt>
                <c:pt idx="58">
                  <c:v>123.2</c:v>
                </c:pt>
                <c:pt idx="59">
                  <c:v>123.3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9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CF2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A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B7A9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13213A"/>
                </a:solidFill>
                <a:latin typeface="Microsoft YaHei"/>
              </a:defRPr>
            </a:pPr>
            <a:r>
              <a:rPr sz="1000" b="0" i="0" u="none" strike="noStrike">
                <a:solidFill>
                  <a:srgbClr val="13213A"/>
                </a:solidFill>
                <a:latin typeface="Microsoft YaHei"/>
              </a:rPr>
              <a:t>体检报告：IC 随持有期（天）变化 —— 20 天最高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</c:v>
                </c:pt>
              </c:strCache>
            </c:strRef>
          </c:tx>
          <c:spPr>
            <a:solidFill>
              <a:srgbClr val="0FA8C9"/>
            </a:solidFill>
            <a:ln w="22860" cap="flat">
              <a:solidFill>
                <a:srgbClr val="0FA8C9"/>
              </a:solidFill>
              <a:prstDash val="solid"/>
              <a:round/>
            </a:ln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FA8C9"/>
              </a:solidFill>
              <a:ln w="9525" cap="flat">
                <a:solidFill>
                  <a:srgbClr val="0FA8C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3</c:v>
                  </c:pt>
                  <c:pt idx="2">
                    <c:v>5</c:v>
                  </c:pt>
                  <c:pt idx="3">
                    <c:v>10</c:v>
                  </c:pt>
                  <c:pt idx="4">
                    <c:v>20</c:v>
                  </c:pt>
                  <c:pt idx="5">
                    <c:v>40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-0.004</c:v>
                </c:pt>
                <c:pt idx="1">
                  <c:v>0.001</c:v>
                </c:pt>
                <c:pt idx="2">
                  <c:v>0.002</c:v>
                </c:pt>
                <c:pt idx="3">
                  <c:v>0.003</c:v>
                </c:pt>
                <c:pt idx="4">
                  <c:v>0.007</c:v>
                </c:pt>
                <c:pt idx="5">
                  <c:v>-0.018</c:v>
                </c:pt>
              </c:numCache>
            </c:numRef>
          </c:val>
          <c:smooth val="0"/>
        </c:ser>
        <c:dLbls>
          <c:numFmt formatCode="0.00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A9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CF2"/>
              </a:solidFill>
              <a:prstDash val="solid"/>
              <a:round/>
            </a:ln>
          </c:spPr>
        </c:majorGridlines>
        <c:numFmt formatCode="0.0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A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讲义：开讲之前。30 秒：机器很会找规律，也很会找假规律；整套方法就是放开找、用规则挡假规律。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讲义：开讲之前。念完三个问题即可，不展开。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1.1。指着左表讲：两列排名越一致，规则越有用。示意数据。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1.2。IC 很小但每天赢一点、几十只一起下注，累积可观。数量感：0.01–0.03。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2。为什么限制：同一搜索空间、可确定性计算、安全。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3。例子：波动率因子样本内 0.021、留出 −0.003。互动：为什么加密用宽松档。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4.1–4.3。教练带学生的比喻；四步各自谁在做、产出什么。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4.4。数值为示意。重点：第三轮零接受是允许的。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4.5–4.7。演示：网站因子挖掘板块 LLM 引擎，每轮显示接受/拒绝理由，教训跨会话保存。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5。两条路找法不同、判卷一样，产出进同一个因子库。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6。为什么跑输：只买 5 只放大波动、每 10 天换仓吃收益、再平衡时点未必合适。IC 是门票，组合回测是成绩单。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7。这是真正的考试，回测错不了，是市场变了；及时降权或下线。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8。多重比较最隐蔽，留出确认和重复度约束就是针对它。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讲义 9。收尾 30 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12-1.png"/><Relationship Id="rId3" Type="http://schemas.openxmlformats.org/officeDocument/2006/relationships/image" Target="../media/image-12-2.png"/><Relationship Id="rId4" Type="http://schemas.openxmlformats.org/officeDocument/2006/relationships/image" Target="../media/image-1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0020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4028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4028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028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4028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028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028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8036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8036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8036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8036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8036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8036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88036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8036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2044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2044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2044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2044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2044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2044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2044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2044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6052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16052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16052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16052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16052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16052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6052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16052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0060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0060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0060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0060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0060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80060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80060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0060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44068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44068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4068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4068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4068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4068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44068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44068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08076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8076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08076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08076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076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8076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8076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08076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72084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72084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72084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72084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72084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084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72084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72084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36092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36092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36092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36092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36092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36092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36092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36092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00100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0100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00100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00100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00100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00100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00100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0100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64108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64108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64108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64108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64108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64108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64108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64108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pic>
        <p:nvPicPr>
          <p:cNvPr id="1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822960" cy="822960"/>
          </a:xfrm>
          <a:prstGeom prst="rect">
            <a:avLst/>
          </a:prstGeom>
        </p:spPr>
      </p:pic>
      <p:sp>
        <p:nvSpPr>
          <p:cNvPr id="115" name="Text 112"/>
          <p:cNvSpPr txBox="1"/>
          <p:nvPr/>
        </p:nvSpPr>
        <p:spPr>
          <a:xfrm>
            <a:off x="640080" y="17373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因子挖掘</a:t>
            </a:r>
            <a:endParaRPr lang="en-US" sz="4600" dirty="0"/>
          </a:p>
        </p:txBody>
      </p:sp>
      <p:sp>
        <p:nvSpPr>
          <p:cNvPr id="116" name="Text 113"/>
          <p:cNvSpPr txBox="1"/>
          <p:nvPr/>
        </p:nvSpPr>
        <p:spPr>
          <a:xfrm>
            <a:off x="640080" y="26517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让机器找信号，让规则守底线 —— 15 分钟</a:t>
            </a:r>
            <a:endParaRPr lang="en-US" sz="2000" dirty="0"/>
          </a:p>
        </p:txBody>
      </p:sp>
      <p:sp>
        <p:nvSpPr>
          <p:cNvPr id="117" name="Text 114"/>
          <p:cNvSpPr txBox="1"/>
          <p:nvPr/>
        </p:nvSpPr>
        <p:spPr>
          <a:xfrm>
            <a:off x="640080" y="32461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FC3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AIQUANT TERMINAL 的「因子挖掘」板块为例：Loop Engineering 闭环挖掘 + 遗传进化，全程样本外验证</a:t>
            </a:r>
            <a:endParaRPr lang="en-US" sz="1250" dirty="0"/>
          </a:p>
        </p:txBody>
      </p:sp>
      <p:sp>
        <p:nvSpPr>
          <p:cNvPr id="118" name="Text 115"/>
          <p:cNvSpPr txBox="1"/>
          <p:nvPr/>
        </p:nvSpPr>
        <p:spPr>
          <a:xfrm>
            <a:off x="64008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aiquant-rust.vercel.app · 因子挖掘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这堂课要回答的三个问题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接下来的每一页都在回答其中之一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2/14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651760" cy="2926080"/>
          </a:xfrm>
          <a:prstGeom prst="roundRect">
            <a:avLst>
              <a:gd name="adj" fmla="val 4828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25880" y="1691640"/>
            <a:ext cx="914400" cy="914400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7048" y="1892808"/>
            <a:ext cx="512064" cy="5120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什么叫因子？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2461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怎么判断一个因子好不好？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91840" y="1463040"/>
            <a:ext cx="2651760" cy="2926080"/>
          </a:xfrm>
          <a:prstGeom prst="roundRect">
            <a:avLst>
              <a:gd name="adj" fmla="val 4828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60520" y="1691640"/>
            <a:ext cx="914400" cy="91440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1688" y="1892808"/>
            <a:ext cx="512064" cy="5120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74720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5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机器怎样自动找因子？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520440" y="32461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怎样让它一轮比一轮找得更好（Loop Engineering）？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26480" y="1463040"/>
            <a:ext cx="2651760" cy="2926080"/>
          </a:xfrm>
          <a:prstGeom prst="roundRect">
            <a:avLst>
              <a:gd name="adj" fmla="val 4828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995160" y="1691640"/>
            <a:ext cx="914400" cy="914400"/>
          </a:xfrm>
          <a:prstGeom prst="ellipse">
            <a:avLst/>
          </a:prstGeom>
          <a:solidFill>
            <a:srgbClr val="1FA971"/>
          </a:solidFill>
          <a:ln w="12700">
            <a:solidFill>
              <a:srgbClr val="1FA97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328" y="1892808"/>
            <a:ext cx="512064" cy="5120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27432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A9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找到之后呢？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355080" y="32461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怎样变成能赚钱的组合？上线后怎么知道它还灵不灵？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什么是因子：给全班每天打一个分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同一天把所有股票放在一起比 —— 横截面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3/14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914400" cy="329184"/>
          </a:xfrm>
          <a:prstGeom prst="rect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6304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股票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371600" y="1463040"/>
            <a:ext cx="777240" cy="329184"/>
          </a:xfrm>
          <a:prstGeom prst="rect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371600" y="1463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因子分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148840" y="1463040"/>
            <a:ext cx="548640" cy="329184"/>
          </a:xfrm>
          <a:prstGeom prst="rect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48840" y="146304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排名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697480" y="1463040"/>
            <a:ext cx="914400" cy="329184"/>
          </a:xfrm>
          <a:prstGeom prst="rect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97480" y="146304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天后收益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11880" y="1463040"/>
            <a:ext cx="548640" cy="329184"/>
          </a:xfrm>
          <a:prstGeom prst="rect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11880" y="146304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排名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1792224"/>
            <a:ext cx="9144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AAPL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71600" y="1792224"/>
            <a:ext cx="7772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71600" y="179222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148840" y="1792224"/>
            <a:ext cx="5486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48840" y="179222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697480" y="1792224"/>
            <a:ext cx="9144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69748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A9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+3.1%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11880" y="1792224"/>
            <a:ext cx="5486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11880" y="179222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2121408"/>
            <a:ext cx="91440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1214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NVDA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371600" y="2121408"/>
            <a:ext cx="77724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371600" y="212140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148840" y="2121408"/>
            <a:ext cx="54864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148840" y="212140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697480" y="2121408"/>
            <a:ext cx="91440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97480" y="21214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A9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+4.0%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11880" y="2121408"/>
            <a:ext cx="54864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611880" y="212140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2450592"/>
            <a:ext cx="9144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7200" y="24505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MSFT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371600" y="2450592"/>
            <a:ext cx="7772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371600" y="245059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148840" y="2450592"/>
            <a:ext cx="5486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148840" y="245059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97480" y="2450592"/>
            <a:ext cx="9144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697480" y="24505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A9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+1.2%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611880" y="2450592"/>
            <a:ext cx="5486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611880" y="245059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" y="2779776"/>
            <a:ext cx="91440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57200" y="277977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TSLA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371600" y="2779776"/>
            <a:ext cx="77724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371600" y="277977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0.40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148840" y="2779776"/>
            <a:ext cx="54864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148840" y="277977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697480" y="2779776"/>
            <a:ext cx="91440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697480" y="277977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48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-0.5%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611880" y="2779776"/>
            <a:ext cx="54864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611880" y="277977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" y="3108960"/>
            <a:ext cx="9144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57200" y="31089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META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371600" y="3108960"/>
            <a:ext cx="7772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371600" y="310896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148840" y="3108960"/>
            <a:ext cx="5486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148840" y="310896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697480" y="3108960"/>
            <a:ext cx="9144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2697480" y="31089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A9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+0.4%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611880" y="3108960"/>
            <a:ext cx="54864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3611880" y="310896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" y="3438144"/>
            <a:ext cx="91440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57200" y="34381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AMZN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1371600" y="3438144"/>
            <a:ext cx="77724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371600" y="343814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2148840" y="3438144"/>
            <a:ext cx="54864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2148840" y="343814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697480" y="3438144"/>
            <a:ext cx="91440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2697480" y="34381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48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-2.2%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3611880" y="3438144"/>
            <a:ext cx="548640" cy="329184"/>
          </a:xfrm>
          <a:prstGeom prst="rect">
            <a:avLst/>
          </a:prstGeom>
          <a:solidFill>
            <a:srgbClr val="EEF6FA"/>
          </a:solidFill>
          <a:ln w="6350">
            <a:solidFill>
              <a:srgbClr val="E3ECF2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3611880" y="343814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 txBox="1"/>
          <p:nvPr/>
        </p:nvSpPr>
        <p:spPr>
          <a:xfrm>
            <a:off x="457200" y="37947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同一天 · 60 只股票各打一分 → 排序 → 看 10 天后收益的排序是否一致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4480560" y="146304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4617720" y="1536192"/>
            <a:ext cx="39319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E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rank(delta(close, 20))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BE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「20 日涨幅」在全市场的排名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BE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最朴素的动量因子</a:t>
            </a:r>
            <a:endParaRPr lang="en-US" sz="1100" dirty="0"/>
          </a:p>
        </p:txBody>
      </p:sp>
      <p:sp>
        <p:nvSpPr>
          <p:cNvPr id="78" name="Text 76"/>
          <p:cNvSpPr txBox="1"/>
          <p:nvPr/>
        </p:nvSpPr>
        <p:spPr>
          <a:xfrm>
            <a:off x="4480560" y="2697480"/>
            <a:ext cx="4206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 = 打分规则。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分数本身不重要，重要的是排序：今天分高的那批，接下来十天是不是整体跑赢分低的那批。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不是在预测某一只股票，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而是在同一天把所有股票横着比。这是因子研究与普通看盘最不一样的地方。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怎么判断因子好不好：IC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今天的排名和十天后收益的排名有多一致，从 −1 到 1，每天算一个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4/14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17320"/>
          <a:ext cx="51206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852160" y="1417320"/>
            <a:ext cx="2834640" cy="1417320"/>
          </a:xfrm>
          <a:prstGeom prst="roundRect">
            <a:avLst>
              <a:gd name="adj" fmla="val 7742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016752" y="1563624"/>
            <a:ext cx="457200" cy="457200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7336" y="1664208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583680" y="158191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看平均值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035040" y="20574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 IC 离 0 多远 = 预测力。美股日频 0.02 已可用，0.05 以上先怀疑偷看未来。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852160" y="3017520"/>
            <a:ext cx="2834640" cy="1417320"/>
          </a:xfrm>
          <a:prstGeom prst="roundRect">
            <a:avLst>
              <a:gd name="adj" fmla="val 7742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016752" y="3163824"/>
            <a:ext cx="457200" cy="45720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7336" y="3264408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583680" y="318211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5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看抖不抖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6035040" y="36576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ICIR = 平均值 ÷ 波动，衡量「稳定地有用」。全靠几天暴涨撑起来的因子，ICIR 很低。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因子长什么样：一套固定的积木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机器能生成、程序能校验、人能看懂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5/14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1563624"/>
            <a:ext cx="457200" cy="457200"/>
          </a:xfrm>
          <a:prstGeom prst="ellipse">
            <a:avLst/>
          </a:prstGeom>
          <a:solidFill>
            <a:srgbClr val="1FA971"/>
          </a:solidFill>
          <a:ln w="12700">
            <a:solidFill>
              <a:srgbClr val="1FA97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1664208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8720" y="15819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原料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057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开盘、最高、最低、收盘、成交量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0" y="141732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28032" y="1563624"/>
            <a:ext cx="457200" cy="457200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1664208"/>
            <a:ext cx="256032" cy="25603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394960" y="15819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沿时间看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46320" y="20574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过去 N 天的平均、标准差、最大最小、排名、变化量、相关性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57200" y="278892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21792" y="2935224"/>
            <a:ext cx="457200" cy="45720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035808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188720" y="2953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5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横着比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34290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排名、标准化：把不同股票放到同一尺度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663440" y="278892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032" y="2935224"/>
            <a:ext cx="457200" cy="45720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8616" y="3035808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394960" y="2953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小零件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4846320" y="34290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加减乘除、绝对值、对数、开方、取符号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94360" y="4279392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E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rank(ts_corr(close, volume, 20))   ← 「过去 20 天价量相关性」的全市场排名，抓价涨量增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44988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硬规则：长度 ≤ 240 字 · 嵌套 ≤ 10 层 · 窗口 1–120 天 · 全空值或常数直接拒绝 · 裸价格/裸成交量不算因子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怎么判卷：模拟考、高考和录取线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样本内可以反复练，留出集只考一次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6/14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023360" cy="457200"/>
          </a:xfrm>
          <a:prstGeom prst="rect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63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80% · 样本内（模拟考）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80560" y="1463040"/>
            <a:ext cx="1005840" cy="457200"/>
          </a:xfrm>
          <a:prstGeom prst="rect">
            <a:avLst/>
          </a:prstGeom>
          <a:solidFill>
            <a:srgbClr val="D9485F"/>
          </a:solidFill>
          <a:ln w="12700">
            <a:solidFill>
              <a:srgbClr val="D948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0" y="14630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 20% 高考</a:t>
            </a:r>
            <a:endParaRPr lang="en-US" sz="10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5544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97880" y="14630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48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留出集不进反馈，只考一次</a:t>
            </a:r>
            <a:endParaRPr lang="en-US" sz="11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57200" y="2103120"/>
          <a:ext cx="47548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2103120"/>
          <a:ext cx="3246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868680"/>
                <a:gridCol w="685800"/>
                <a:gridCol w="10515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档位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样本内 IC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ICIR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严格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≥ 0.020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≥ 0.25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少而精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≥ 0.015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≥ 0.15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默认 · 美股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宽松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≥ 0.010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≥ 0.08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加密：噪声大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A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5440680" y="356616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三档只放宽样本内的线；高考那关谁都不豁免：方向一致，强度 ≥ 录取线的一半。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Loop Engineering：让机器一轮比一轮找得好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把成绩单和错题本放回下一轮题目 —— 变的是上下文，不是模型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7/14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234440" y="1874520"/>
            <a:ext cx="2286000" cy="2286000"/>
          </a:xfrm>
          <a:prstGeom prst="ellipse">
            <a:avLst/>
          </a:prstGeom>
          <a:ln w="19050">
            <a:solidFill>
              <a:srgbClr val="C9D8E4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2075688" y="1572768"/>
            <a:ext cx="603504" cy="603504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8459" y="1705539"/>
            <a:ext cx="337962" cy="33796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828800" y="10058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写候选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18688" y="2715768"/>
            <a:ext cx="603504" cy="60350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459" y="2848539"/>
            <a:ext cx="337962" cy="33796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904488" y="27432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C5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程序打分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075688" y="3858768"/>
            <a:ext cx="603504" cy="603504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8459" y="3991539"/>
            <a:ext cx="337962" cy="33796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828800" y="45262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A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反思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归纳教训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932688" y="2715768"/>
            <a:ext cx="603504" cy="603504"/>
          </a:xfrm>
          <a:prstGeom prst="ellipse">
            <a:avLst/>
          </a:prstGeom>
          <a:solidFill>
            <a:srgbClr val="1FA971"/>
          </a:solidFill>
          <a:ln w="12700">
            <a:solidFill>
              <a:srgbClr val="1FA971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459" y="2848539"/>
            <a:ext cx="337962" cy="33796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-246888" y="27432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A9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</a:t>
            </a:r>
            <a:endParaRPr lang="en-US" sz="1100" dirty="0"/>
          </a:p>
          <a:p>
            <a:pPr algn="r" indent="0" marL="0">
              <a:buNone/>
            </a:pPr>
            <a:r>
              <a:rPr lang="en-US" sz="11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组装下一轮</a:t>
            </a:r>
            <a:endParaRPr lang="en-US" sz="1100" dirty="0"/>
          </a:p>
        </p:txBody>
      </p:sp>
      <p:sp>
        <p:nvSpPr>
          <p:cNvPr id="18" name="Text 12"/>
          <p:cNvSpPr txBox="1"/>
          <p:nvPr/>
        </p:nvSpPr>
        <p:spPr>
          <a:xfrm>
            <a:off x="1645920" y="2880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顺时针循环 →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4663440" y="1463040"/>
            <a:ext cx="4023360" cy="1417320"/>
          </a:xfrm>
          <a:prstGeom prst="roundRect">
            <a:avLst>
              <a:gd name="adj" fmla="val 7742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4846320" y="16276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它不是「多聊几轮」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4846320" y="21031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每一轮结束后，成绩单和错题本原样进入下一轮题目。AI 变强不是因为想得更久，而是因为看到了上一轮哪些被接受、哪些被拒、为什么。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663440" y="3017520"/>
            <a:ext cx="4023360" cy="1600200"/>
          </a:xfrm>
          <a:prstGeom prst="roundRect">
            <a:avLst>
              <a:gd name="adj" fmla="val 6857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4846320" y="318211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5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打分的是程序，不是 AI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4846320" y="36576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评估器是确定性代码：校验语法 → 算 IC → 样本内、留出、重复度、成本逐项检查。AI 不能给自己的作业打分，这是整个循环可信的前提。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完整走一遍：三轮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错误逐轮消失，方向逐轮迁移 —— 是错题本推的，不是 AI 自发的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8/14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2468880"/>
                <a:gridCol w="24688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候选（人话）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评估结果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写进错题本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rank(delta(close,20))　20 天涨幅排名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A97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样本内 0.024 · 留出 0.019 · 接受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rank(ts_mean(volume,500))　500 天均量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9485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 &gt; 120 · 语法拒绝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窗口必须在 1–120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rank(close/delay(close,20))　现价/20天前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9485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与第 1 条相关 0.99 · 重复拒绝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现价/过去价 与 价格变化量 是同一信号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rank(ts_std(close,10))　10 天波动率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9485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样本内 0.021 · 留出 −0.003 · 留出拒绝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短窗口波动率在本样本不成立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rank(ts_corr(close,volume,20))　量价相关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A97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样本内 0.016 · 留出 0.011 · 接受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量价背离、成交量相对变化、区间位置…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F0A5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接受 · 2 因与量价族相关 0.8 拒绝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量价相关族已覆盖，转向成交量自身变化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区间位置 × 成交量相对变化 等组合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9485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接受 —— 合法结果，不放水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新增两条；下次不必重踩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第二轮的题目多了：两条已入库因子 + 三条教训 + 「动量以外，优先量价」的方向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什么能进下一轮，什么绝对不能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可以知道「这条路不通」，不能知道「往哪边微调就能通过」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9/14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023360" cy="2148840"/>
          </a:xfrm>
          <a:prstGeom prst="roundRect">
            <a:avLst>
              <a:gd name="adj" fmla="val 5106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能进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38528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0120" y="190195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已入库因子的表达式和样本内成绩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0428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60120" y="226771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被拒候选的一句话理由</a:t>
            </a:r>
            <a:endParaRPr lang="en-US" sz="11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70048"/>
            <a:ext cx="237744" cy="2377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60120" y="263347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重复拒绝时和库里哪一条撞了</a:t>
            </a:r>
            <a:endParaRPr lang="en-US" sz="11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035808"/>
            <a:ext cx="237744" cy="23774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60120" y="299923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留出集「过 / 没过」（只给二值）</a:t>
            </a:r>
            <a:endParaRPr lang="en-US" sz="1100" dirty="0"/>
          </a:p>
        </p:txBody>
      </p:sp>
      <p:sp>
        <p:nvSpPr>
          <p:cNvPr id="15" name="Shape 9"/>
          <p:cNvSpPr/>
          <p:nvPr/>
        </p:nvSpPr>
        <p:spPr>
          <a:xfrm>
            <a:off x="4663440" y="1417320"/>
            <a:ext cx="4023360" cy="2148840"/>
          </a:xfrm>
          <a:prstGeom prst="roundRect">
            <a:avLst>
              <a:gd name="adj" fmla="val 5106"/>
            </a:avLst>
          </a:prstGeom>
          <a:solidFill>
            <a:srgbClr val="FDECEF"/>
          </a:solidFill>
          <a:ln w="9525">
            <a:solidFill>
              <a:srgbClr val="F3C6CE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4846320" y="1508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48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绝对不能进</a:t>
            </a:r>
            <a:endParaRPr lang="en-US" sz="14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1938528"/>
            <a:ext cx="237744" cy="23774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5166360" y="190195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留出集的具体分数</a:t>
            </a:r>
            <a:endParaRPr lang="en-US" sz="11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304288"/>
            <a:ext cx="237744" cy="237744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66360" y="226771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逐日 IC 序列</a:t>
            </a:r>
            <a:endParaRPr lang="en-US" sz="1100" dirty="0"/>
          </a:p>
        </p:txBody>
      </p:sp>
      <p:sp>
        <p:nvSpPr>
          <p:cNvPr id="21" name="Text 13"/>
          <p:cNvSpPr txBox="1"/>
          <p:nvPr/>
        </p:nvSpPr>
        <p:spPr>
          <a:xfrm>
            <a:off x="4846320" y="26974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48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一旦给了具体分数，AI 就能顺着它微调，留出集就变成了第二个样本内，整个验证失效。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033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743200"/>
                <a:gridCol w="365760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会坏在哪里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平台对策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越找越像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在成功方向上小修小改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相关 &gt; 0.7 拒绝；每轮要求新方向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对着样本内背题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反复看到样本内成绩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留出一票否决，分数不进反馈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为了有结果放水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人和机器都想有产出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允许零接受，不降门槛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另一条路：不用 AI 的进化搜索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把表达式当作一棵树，随机组合、优胜劣汰、交叉变异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10/14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783080" y="1463040"/>
            <a:ext cx="1051560" cy="329184"/>
          </a:xfrm>
          <a:prstGeom prst="roundRect">
            <a:avLst>
              <a:gd name="adj" fmla="val 27778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83080" y="146304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304288" y="1792224"/>
            <a:ext cx="0" cy="310896"/>
          </a:xfrm>
          <a:prstGeom prst="line">
            <a:avLst/>
          </a:prstGeom>
          <a:noFill/>
          <a:ln w="15240">
            <a:solidFill>
              <a:srgbClr val="9FB3C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83080" y="2103120"/>
            <a:ext cx="1051560" cy="329184"/>
          </a:xfrm>
          <a:prstGeom prst="roundRect">
            <a:avLst>
              <a:gd name="adj" fmla="val 27778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83080" y="21031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H="1">
            <a:off x="1280160" y="2432304"/>
            <a:ext cx="1024128" cy="310896"/>
          </a:xfrm>
          <a:prstGeom prst="line">
            <a:avLst/>
          </a:prstGeom>
          <a:noFill/>
          <a:ln w="15240">
            <a:solidFill>
              <a:srgbClr val="9FB3C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04288" y="2432304"/>
            <a:ext cx="987552" cy="310896"/>
          </a:xfrm>
          <a:prstGeom prst="line">
            <a:avLst/>
          </a:prstGeom>
          <a:noFill/>
          <a:ln w="15240">
            <a:solidFill>
              <a:srgbClr val="9FB3C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2743200"/>
            <a:ext cx="1051560" cy="329184"/>
          </a:xfrm>
          <a:prstGeom prst="roundRect">
            <a:avLst>
              <a:gd name="adj" fmla="val 27778"/>
            </a:avLst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7432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ts_rank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88920" y="2743200"/>
            <a:ext cx="1051560" cy="329184"/>
          </a:xfrm>
          <a:prstGeom prst="roundRect">
            <a:avLst>
              <a:gd name="adj" fmla="val 27778"/>
            </a:avLst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88920" y="27432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ts_rank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 flipH="1">
            <a:off x="822960" y="3072384"/>
            <a:ext cx="475488" cy="310896"/>
          </a:xfrm>
          <a:prstGeom prst="line">
            <a:avLst/>
          </a:prstGeom>
          <a:noFill/>
          <a:ln w="15240">
            <a:solidFill>
              <a:srgbClr val="9FB3C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8448" y="3072384"/>
            <a:ext cx="484632" cy="310896"/>
          </a:xfrm>
          <a:prstGeom prst="line">
            <a:avLst/>
          </a:prstGeom>
          <a:noFill/>
          <a:ln w="15240">
            <a:solidFill>
              <a:srgbClr val="9FB3C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2834640" y="3072384"/>
            <a:ext cx="475488" cy="310896"/>
          </a:xfrm>
          <a:prstGeom prst="line">
            <a:avLst/>
          </a:prstGeom>
          <a:noFill/>
          <a:ln w="15240">
            <a:solidFill>
              <a:srgbClr val="9FB3C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10128" y="3072384"/>
            <a:ext cx="484632" cy="310896"/>
          </a:xfrm>
          <a:prstGeom prst="line">
            <a:avLst/>
          </a:prstGeom>
          <a:noFill/>
          <a:ln w="15240">
            <a:solidFill>
              <a:srgbClr val="9FB3C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383280"/>
            <a:ext cx="914400" cy="329184"/>
          </a:xfrm>
          <a:prstGeom prst="roundRect">
            <a:avLst>
              <a:gd name="adj" fmla="val 27778"/>
            </a:avLst>
          </a:prstGeom>
          <a:solidFill>
            <a:srgbClr val="1FA971"/>
          </a:solidFill>
          <a:ln w="12700">
            <a:solidFill>
              <a:srgbClr val="1FA97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65760" y="338328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371600" y="3383280"/>
            <a:ext cx="777240" cy="329184"/>
          </a:xfrm>
          <a:prstGeom prst="roundRect">
            <a:avLst>
              <a:gd name="adj" fmla="val 27778"/>
            </a:avLst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71600" y="338328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377440" y="3383280"/>
            <a:ext cx="914400" cy="329184"/>
          </a:xfrm>
          <a:prstGeom prst="roundRect">
            <a:avLst>
              <a:gd name="adj" fmla="val 27778"/>
            </a:avLst>
          </a:prstGeom>
          <a:solidFill>
            <a:srgbClr val="1FA971"/>
          </a:solidFill>
          <a:ln w="12700">
            <a:solidFill>
              <a:srgbClr val="1FA97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377440" y="338328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383280" y="3383280"/>
            <a:ext cx="777240" cy="329184"/>
          </a:xfrm>
          <a:prstGeom prst="roundRect">
            <a:avLst>
              <a:gd name="adj" fmla="val 27778"/>
            </a:avLst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383280" y="338328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88620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rank(ts_rank(volume,10) − ts_rank(close,10))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进化 30 代后名人堂里的一条：量在涨、价还没跟上。人未必先想到，但拿到后解释得通。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141732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28032" y="1563624"/>
            <a:ext cx="457200" cy="45720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3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28616" y="1664208"/>
            <a:ext cx="256032" cy="256032"/>
          </a:xfrm>
          <a:prstGeom prst="rect">
            <a:avLst/>
          </a:prstGeom>
        </p:spPr>
      </p:pic>
      <p:sp>
        <p:nvSpPr>
          <p:cNvPr id="32" name="Text 29"/>
          <p:cNvSpPr txBox="1"/>
          <p:nvPr/>
        </p:nvSpPr>
        <p:spPr>
          <a:xfrm>
            <a:off x="5394960" y="15819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5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适应度里的三条修正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846320" y="20574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稳定的因子加分；每多一块积木扣一点分（防止越拼越长）；和已发现因子太像的直接打对折（逼着去别处找）。每代前 8 名进名人堂。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30175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508760"/>
                <a:gridCol w="1508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Loop Engineering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遗传编程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1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候选从哪来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AI，自带金融常识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随机组合、变异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怎么用反馈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理由写成文字放回题目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只看一个适应度数字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长处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能解释、能听懂换方向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便宜、可并行、不受 AI 知识局限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321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判卷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A8C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同一条评估流水线、同一个留出集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FA8C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同左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从因子到组合：IC 好只是门票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 10 根 K 线按因子排序，买前 5 名等权，扣手续费与滑点，永远对比买入持有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11/14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17320"/>
          <a:ext cx="51206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852160" y="1417320"/>
            <a:ext cx="1371600" cy="1417320"/>
          </a:xfrm>
          <a:prstGeom prst="roundRect">
            <a:avLst>
              <a:gd name="adj" fmla="val 8000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61888" y="155448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累计收益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61888" y="198424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一定和基准放在一起看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315200" y="1417320"/>
            <a:ext cx="1371600" cy="1417320"/>
          </a:xfrm>
          <a:prstGeom prst="roundRect">
            <a:avLst>
              <a:gd name="adj" fmla="val 8000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24928" y="155448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年化收益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424928" y="198424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便于跨不同长度比较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852160" y="2971800"/>
            <a:ext cx="1371600" cy="1417320"/>
          </a:xfrm>
          <a:prstGeom prst="roundRect">
            <a:avLst>
              <a:gd name="adj" fmla="val 8000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61888" y="31089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夏普比率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961888" y="353872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以上不错，2 以上警惕过拟合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7315200" y="2971800"/>
            <a:ext cx="1371600" cy="1417320"/>
          </a:xfrm>
          <a:prstGeom prst="roundRect">
            <a:avLst>
              <a:gd name="adj" fmla="val 8000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24928" y="31089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最大回撤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24928" y="353872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决定你能不能拿得住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上线之后：因子会钝，要持续检查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回测回答「过去行不行」，前向跟踪回答「你上线之后行不行」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12/14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17320"/>
          <a:ext cx="39319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网站「体检」还给出：五分层收益、换手与扣成本价差、4 段滚动 IC、牛熊分段、t 统计量，五项 A/B/C 评级。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663440" y="141732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28032" y="1563624"/>
            <a:ext cx="457200" cy="457200"/>
          </a:xfrm>
          <a:prstGeom prst="ellipse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1664208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5819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衰减检测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484632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 60 / 120 天 IC 明显低于全样本 = 钝了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663440" y="251460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828032" y="2660904"/>
            <a:ext cx="457200" cy="457200"/>
          </a:xfrm>
          <a:prstGeom prst="ellipse">
            <a:avLst/>
          </a:prstGeom>
          <a:solidFill>
            <a:srgbClr val="1FA971"/>
          </a:solidFill>
          <a:ln w="12700">
            <a:solidFill>
              <a:srgbClr val="1FA971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8616" y="2761488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394960" y="26791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跨市场移植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846320" y="3154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美股因子放到加密重算：两边都成立更像真规律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663440" y="361188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828032" y="3758184"/>
            <a:ext cx="457200" cy="457200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8616" y="3858768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394960" y="377647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8C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前向跟踪（模拟持仓）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4846320" y="4251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上线前后夏普并排：保持 / 衰减 / 增强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0020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4028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4028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24028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4028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028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028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88036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8036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8036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8036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88036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88036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88036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88036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2044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2044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2044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2044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2044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2044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2044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2044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6052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16052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16052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16052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16052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16052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6052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16052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0060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0060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0060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0060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0060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80060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80060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0060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44068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44068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44068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4068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44068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44068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44068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44068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08076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8076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08076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08076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076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8076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8076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08076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72084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72084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72084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72084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72084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084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72084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72084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36092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36092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36092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36092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36092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36092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36092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36092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00100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00100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00100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00100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00100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00100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00100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0100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641080" y="3200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641080" y="9601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641080" y="16002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641080" y="224028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641080" y="288036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641080" y="352044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641080" y="416052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641080" y="4800600"/>
            <a:ext cx="36576" cy="36576"/>
          </a:xfrm>
          <a:prstGeom prst="ellipse">
            <a:avLst/>
          </a:prstGeom>
          <a:solidFill>
            <a:srgbClr val="1E3352"/>
          </a:solidFill>
          <a:ln w="12700">
            <a:solidFill>
              <a:srgbClr val="1E3352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54864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几条不能破的底线</a:t>
            </a:r>
            <a:endParaRPr lang="en-US" sz="2600" dirty="0"/>
          </a:p>
        </p:txBody>
      </p:sp>
      <p:sp>
        <p:nvSpPr>
          <p:cNvPr id="115" name="Shape 113"/>
          <p:cNvSpPr/>
          <p:nvPr/>
        </p:nvSpPr>
        <p:spPr>
          <a:xfrm>
            <a:off x="548640" y="1280160"/>
            <a:ext cx="457200" cy="457200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pic>
        <p:nvPicPr>
          <p:cNvPr id="1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1380744"/>
            <a:ext cx="256032" cy="256032"/>
          </a:xfrm>
          <a:prstGeom prst="rect">
            <a:avLst/>
          </a:prstGeom>
        </p:spPr>
      </p:pic>
      <p:sp>
        <p:nvSpPr>
          <p:cNvPr id="117" name="Text 114"/>
          <p:cNvSpPr txBox="1"/>
          <p:nvPr/>
        </p:nvSpPr>
        <p:spPr>
          <a:xfrm>
            <a:off x="1143000" y="1280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留出集只考一次</a:t>
            </a:r>
            <a:endParaRPr lang="en-US" sz="1400" dirty="0"/>
          </a:p>
        </p:txBody>
      </p:sp>
      <p:sp>
        <p:nvSpPr>
          <p:cNvPr id="118" name="Text 115"/>
          <p:cNvSpPr txBox="1"/>
          <p:nvPr/>
        </p:nvSpPr>
        <p:spPr>
          <a:xfrm>
            <a:off x="3566160" y="12801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样本内随便练，留出集从不进反馈。</a:t>
            </a:r>
            <a:endParaRPr lang="en-US" sz="1200" dirty="0"/>
          </a:p>
        </p:txBody>
      </p:sp>
      <p:sp>
        <p:nvSpPr>
          <p:cNvPr id="119" name="Shape 116"/>
          <p:cNvSpPr/>
          <p:nvPr/>
        </p:nvSpPr>
        <p:spPr>
          <a:xfrm>
            <a:off x="548640" y="1883664"/>
            <a:ext cx="457200" cy="45720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1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1984248"/>
            <a:ext cx="256032" cy="256032"/>
          </a:xfrm>
          <a:prstGeom prst="rect">
            <a:avLst/>
          </a:prstGeom>
        </p:spPr>
      </p:pic>
      <p:sp>
        <p:nvSpPr>
          <p:cNvPr id="121" name="Text 117"/>
          <p:cNvSpPr txBox="1"/>
          <p:nvPr/>
        </p:nvSpPr>
        <p:spPr>
          <a:xfrm>
            <a:off x="1143000" y="188366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允许空手而归</a:t>
            </a:r>
            <a:endParaRPr lang="en-US" sz="1400" dirty="0"/>
          </a:p>
        </p:txBody>
      </p:sp>
      <p:sp>
        <p:nvSpPr>
          <p:cNvPr id="122" name="Text 118"/>
          <p:cNvSpPr txBox="1"/>
          <p:nvPr/>
        </p:nvSpPr>
        <p:spPr>
          <a:xfrm>
            <a:off x="3566160" y="188366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零接受是正常结果，说明这段数据在这个方向没有可靠信号。</a:t>
            </a:r>
            <a:endParaRPr lang="en-US" sz="1200" dirty="0"/>
          </a:p>
        </p:txBody>
      </p:sp>
      <p:sp>
        <p:nvSpPr>
          <p:cNvPr id="123" name="Shape 119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pic>
        <p:nvPicPr>
          <p:cNvPr id="1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587752"/>
            <a:ext cx="256032" cy="256032"/>
          </a:xfrm>
          <a:prstGeom prst="rect">
            <a:avLst/>
          </a:prstGeom>
        </p:spPr>
      </p:pic>
      <p:sp>
        <p:nvSpPr>
          <p:cNvPr id="125" name="Text 120"/>
          <p:cNvSpPr txBox="1"/>
          <p:nvPr/>
        </p:nvSpPr>
        <p:spPr>
          <a:xfrm>
            <a:off x="1143000" y="24871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基准永远在图上</a:t>
            </a:r>
            <a:endParaRPr lang="en-US" sz="1400" dirty="0"/>
          </a:p>
        </p:txBody>
      </p:sp>
      <p:sp>
        <p:nvSpPr>
          <p:cNvPr id="126" name="Text 121"/>
          <p:cNvSpPr txBox="1"/>
          <p:nvPr/>
        </p:nvSpPr>
        <p:spPr>
          <a:xfrm>
            <a:off x="3566160" y="248716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任何净值曲线旁边都有买入持有。</a:t>
            </a:r>
            <a:endParaRPr lang="en-US" sz="1200" dirty="0"/>
          </a:p>
        </p:txBody>
      </p:sp>
      <p:sp>
        <p:nvSpPr>
          <p:cNvPr id="127" name="Shape 122"/>
          <p:cNvSpPr/>
          <p:nvPr/>
        </p:nvSpPr>
        <p:spPr>
          <a:xfrm>
            <a:off x="548640" y="3090672"/>
            <a:ext cx="457200" cy="45720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1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3191256"/>
            <a:ext cx="256032" cy="256032"/>
          </a:xfrm>
          <a:prstGeom prst="rect">
            <a:avLst/>
          </a:prstGeom>
        </p:spPr>
      </p:pic>
      <p:sp>
        <p:nvSpPr>
          <p:cNvPr id="129" name="Text 123"/>
          <p:cNvSpPr txBox="1"/>
          <p:nvPr/>
        </p:nvSpPr>
        <p:spPr>
          <a:xfrm>
            <a:off x="1143000" y="309067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每一次拒绝都留痕</a:t>
            </a:r>
            <a:endParaRPr lang="en-US" sz="1400" dirty="0"/>
          </a:p>
        </p:txBody>
      </p:sp>
      <p:sp>
        <p:nvSpPr>
          <p:cNvPr id="130" name="Text 124"/>
          <p:cNvSpPr txBox="1"/>
          <p:nvPr/>
        </p:nvSpPr>
        <p:spPr>
          <a:xfrm>
            <a:off x="3566160" y="309067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被拒理由进错题本，供下一轮和下一个人看。</a:t>
            </a:r>
            <a:endParaRPr lang="en-US" sz="1200" dirty="0"/>
          </a:p>
        </p:txBody>
      </p:sp>
      <p:sp>
        <p:nvSpPr>
          <p:cNvPr id="131" name="Shape 125"/>
          <p:cNvSpPr/>
          <p:nvPr/>
        </p:nvSpPr>
        <p:spPr>
          <a:xfrm>
            <a:off x="548640" y="3694176"/>
            <a:ext cx="457200" cy="457200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pic>
        <p:nvPicPr>
          <p:cNvPr id="1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" y="3794760"/>
            <a:ext cx="256032" cy="256032"/>
          </a:xfrm>
          <a:prstGeom prst="rect">
            <a:avLst/>
          </a:prstGeom>
        </p:spPr>
      </p:pic>
      <p:sp>
        <p:nvSpPr>
          <p:cNvPr id="133" name="Text 126"/>
          <p:cNvSpPr txBox="1"/>
          <p:nvPr/>
        </p:nvSpPr>
        <p:spPr>
          <a:xfrm>
            <a:off x="1143000" y="369417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上线后继续考</a:t>
            </a:r>
            <a:endParaRPr lang="en-US" sz="1400" dirty="0"/>
          </a:p>
        </p:txBody>
      </p:sp>
      <p:sp>
        <p:nvSpPr>
          <p:cNvPr id="134" name="Text 127"/>
          <p:cNvSpPr txBox="1"/>
          <p:nvPr/>
        </p:nvSpPr>
        <p:spPr>
          <a:xfrm>
            <a:off x="3566160" y="369417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模拟持仓给出明确的衰减判定。</a:t>
            </a:r>
            <a:endParaRPr lang="en-US" sz="1200" dirty="0"/>
          </a:p>
        </p:txBody>
      </p:sp>
      <p:pic>
        <p:nvPicPr>
          <p:cNvPr id="1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70832"/>
            <a:ext cx="256032" cy="256032"/>
          </a:xfrm>
          <a:prstGeom prst="rect">
            <a:avLst/>
          </a:prstGeom>
        </p:spPr>
      </p:pic>
      <p:sp>
        <p:nvSpPr>
          <p:cNvPr id="136" name="Text 128"/>
          <p:cNvSpPr txBox="1"/>
          <p:nvPr/>
        </p:nvSpPr>
        <p:spPr>
          <a:xfrm>
            <a:off x="868680" y="43159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C3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三个坑：前视偏差（用了当时不可能知道的数据）· 幸存者偏差（样本只剩活到今天的公司）· 多重比较（试一千个总有几十个碰巧显著）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总结：三句话带走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以及一份作业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731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AIQUANT TERMINAL · 因子挖掘 · 14/14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731520"/>
          </a:xfrm>
          <a:prstGeom prst="roundRect">
            <a:avLst>
              <a:gd name="adj" fmla="val 15000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527048"/>
            <a:ext cx="512064" cy="512064"/>
          </a:xfrm>
          <a:prstGeom prst="ellipse">
            <a:avLst/>
          </a:prstGeom>
          <a:solidFill>
            <a:srgbClr val="0FA8C9"/>
          </a:solidFill>
          <a:ln w="12700">
            <a:solidFill>
              <a:srgbClr val="0FA8C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014" y="1639702"/>
            <a:ext cx="286756" cy="2867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80160" y="141732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因子是给股票打分的规则，IC 是给规则打分的尺子。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8229600" cy="731520"/>
          </a:xfrm>
          <a:prstGeom prst="roundRect">
            <a:avLst>
              <a:gd name="adj" fmla="val 15000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2395728"/>
            <a:ext cx="512064" cy="512064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014" y="2508382"/>
            <a:ext cx="286756" cy="2867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80160" y="228600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Loop Engineering 的核心是把成绩单和错题本放回下一轮，同时把留出集的分数锁起来。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57200" y="3154680"/>
            <a:ext cx="8229600" cy="731520"/>
          </a:xfrm>
          <a:prstGeom prst="roundRect">
            <a:avLst>
              <a:gd name="adj" fmla="val 15000"/>
            </a:avLst>
          </a:prstGeom>
          <a:solidFill>
            <a:srgbClr val="EEF6FA"/>
          </a:solidFill>
          <a:ln w="9525">
            <a:solidFill>
              <a:srgbClr val="D6E4E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94360" y="3264408"/>
            <a:ext cx="512064" cy="512064"/>
          </a:xfrm>
          <a:prstGeom prst="ellipse">
            <a:avLst/>
          </a:prstGeom>
          <a:solidFill>
            <a:srgbClr val="1FA971"/>
          </a:solidFill>
          <a:ln w="12700">
            <a:solidFill>
              <a:srgbClr val="1FA97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014" y="3377062"/>
            <a:ext cx="286756" cy="28675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15468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321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IC 是门票，组合回测是成绩单，上线后的前向跟踪才是最终考试。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457200" y="406908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40080" y="406908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B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　</a:t>
            </a:r>
            <a:pPr indent="0" marL="0">
              <a:buNone/>
            </a:pPr>
            <a:r>
              <a:rPr lang="en-US" sz="1050" dirty="0">
                <a:solidFill>
                  <a:srgbClr val="DCE7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用宽松档在加密市场跑一轮 LLM 挖掘，记录三轮里错题本的变化，200 字说明第三轮的题目比第一轮多了什么；再把接受的因子移植到美股，看 IC 变了多少。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因子挖掘 15 分钟</dc:title>
  <dc:subject>PptxGenJS Presentation</dc:subject>
  <dc:creator>PptxGenJS</dc:creator>
  <cp:lastModifiedBy>PptxGenJS</cp:lastModifiedBy>
  <cp:revision>1</cp:revision>
  <dcterms:created xsi:type="dcterms:W3CDTF">2026-09-05T08:45:13Z</dcterms:created>
  <dcterms:modified xsi:type="dcterms:W3CDTF">2026-09-05T08:45:13Z</dcterms:modified>
</cp:coreProperties>
</file>