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用途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E0FF"/>
              </a:solidFill>
              <a:ln w="127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0B429"/>
              </a:solidFill>
              <a:ln w="127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B78FF"/>
              </a:solidFill>
              <a:ln w="127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2ECC8A"/>
              </a:solidFill>
              <a:ln w="127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研发与数据</c:v>
                </c:pt>
                <c:pt idx="1">
                  <c:v>市场与社区</c:v>
                </c:pt>
                <c:pt idx="2">
                  <c:v>合规与运营</c:v>
                </c:pt>
                <c:pt idx="3">
                  <c:v>储备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【0:00–0:30】开场。一句话：AIQUANT 是一个已经上线运行的 AI 投研网站——它让 AI 提出投资因子，用一套严格的样本外检验把噱头筛掉，再把通过检验的信号变成交易单，并允许研究者把它挂到市场上卖。今天 10 分钟讲三件事：为什么现在做、我们做了什么、为什么值得投。
提示：全程强调「已上线、可演示」，不要讲开发过程中的困难。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【0:30–1:20】痛点。核心一句：过去投研的瓶颈是「产生想法」，现在 AI 把这一步的成本打到零，瓶颈转移到了「可信的验证」和「上线后的持续监控」。三个断点：验证慢、过拟合、没人盯。
落点：谁能把「AI 生成 → 严格验证 → 持续监控」做成一条自动化流水线，谁就掌握了 AI 时代投研的关键环节。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【1:20–2:00】解决方案总览。强调这不是概念图，而是网站上真实存在的四个环节，等一下现场就演示：输入一句假设，几分钟后拿到一个带评级的因子和可执行的目标持仓。
关键词：闭环（Loop Engineering）、样本外、可交易、可销售。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00–2:35】产品全景。左边是真实首页截图。四个模块一句话带过，重点放在「全部接在同一套数据与引擎上」：市场里买的策略一键进回测，因子库里的因子一键进流水线，流水线的结果一键部署成模拟持仓。这种「一体化」是我们与单点工具的差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【2:35–3:15】技术一。「Loop Engineering」是我们的方法论名词：AI 不是一次性生成，而是在确定性的评估器和规则约束下反复迭代，每一轮拒绝的理由都会变成下一轮的指令。这与 Chain-of-Alpha 等论文思路一致，但我们把它做成了产品，并加了第二台不依赖 LLM 的遗传进化引擎做交叉验证。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【3:15–4:00】技术二。这一页是我们与竞品最大的区别：AI 生成因子已经不稀缺，稀缺的是把过拟合、不可交易、随机撞中的因子拦下来。五道门禁 + 报告卡 + 上线后成绩，构成了我们的「信任层」。举例：一个回测 IC 很高但 Top-5 每天换 60% 仓位的因子，扣成本就是负的——门禁直接拦下，并把理由反馈给 AI 下一轮避免。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00–4:30】闭环的后半段。研究成果不停留在报告：流水线给出目标持仓和交易单；模拟持仓从部署那天起样本外记录；服务器每天替用户复检并推送告警。对投资人的含义：用户留存来自「每天都要回来看」，而不是一次性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【4:30–7:15，其中本页讲解 15 秒、现场演示 2 分 30 秒】演示是整场唯一不可压缩的部分，也是评委给票的关键。
演示前准备：提前在浏览器打开线上站点并登录；提前跑过一次同样的假设以便缓存命中、加载更快；因子库里预先保留 2–3 条已通过门禁的因子，保证第 3 步一定有可展示的输出。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【7:15–7:55】商业模式。第一层已经在线上跑通（演示模式下可完整走完购买流程；接入真实支付通道只是配置密钥）。第二层订阅是近期重点；第三层机构 API 是中期方向。飞轮：越多人挖掘，评估器与记忆越强，越多高质量因子进入市场，越多买家——研究工具本身就是获客漏斗。
注意：不要提供具体收入预测数字，被问到时用「首年目标：上架研究者 500 人、付费转化 5%」这类目标口径回答。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【7:55–8:25】市场。三组数字都是公开口径（路演前请再核对最新数值）：中登公司 2023 年 A 股投资者数突破 2.2 亿；全球加密持有者 5 亿以上为行业机构估算；Bloomberg 终端约 2.5 万美元/年/席位。我们的判断：AI 让研究能力民主化，但专业级的验证与监控工具仍是空白，这就是我们的位置。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25–8:55】壁垒。投资人会问「大模型公司或券商为什么不做」：大模型公司不做垂直的验证与交易闭环；券商受合规与组织约束不做开放市场。我们的护城河在于把学术界成熟的方法论产品化，并在市场层建立了信任机制——这两者叠加需要时间和真实运行数据。工程质量数字是真实的 CI 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【8:55–9:20】进展。四个数字都是真实的：12 个模块、118+40 标的宇宙、80 多个 API 端点、311 个自动化测试。路线图重点讲 Q4：开通真实支付与首批上架研究者，是从「产品」到「生意」的转折点。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【9:20–9:45】融资需求。金额与比例是建议方案，路演前请按自身实际调整（导师会追问估值与出让比例，建议准备：天使轮出让 10–15%）。用途重点：研发与数据占大头，因为 A 股接入与移动端是下一阶段增长引擎；合规预算显示我们对支付与资金托管的重视。18 个月目标全部是可验证的经营指标。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【9:45–10:00】收尾。回到开头那句话，然后明确给出「邀请」。留 10 秒给评委记网址。随后进入 10 分钟导师互动——常见问题的答法见讲稿附录。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问答备用。若导师质疑「AI 挖因子就是数据挖掘、必然过拟合」，逐条指向这张表：我们不是否认过拟合，而是把学术界对抗过拟合的全部工具做成了默认开启的产品功能。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问答备用。被问「团队多大、怎么维护」时的答案：整套系统按无服务器设计，每日运维、重检、监控、数据夜测均由 GitHub Actions 自动完成，一名工程师即可维持；资金用于扩展市场与数据，而非堆运维人力。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E1730"/>
          </a:solidFill>
          <a:ln w="12700">
            <a:solidFill>
              <a:srgbClr val="0E173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385816" y="1362456"/>
            <a:ext cx="3538728" cy="2252853"/>
          </a:xfrm>
          <a:prstGeom prst="roundRect">
            <a:avLst>
              <a:gd name="adj" fmla="val 3247"/>
            </a:avLst>
          </a:prstGeom>
          <a:solidFill>
            <a:srgbClr val="1A2640"/>
          </a:solidFill>
          <a:ln w="9525">
            <a:solidFill>
              <a:srgbClr val="2739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1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17320"/>
            <a:ext cx="3429000" cy="2143125"/>
          </a:xfrm>
          <a:prstGeom prst="rect">
            <a:avLst/>
          </a:prstGeom>
        </p:spPr>
      </p:pic>
      <p:pic>
        <p:nvPicPr>
          <p:cNvPr id="1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640080" cy="640080"/>
          </a:xfrm>
          <a:prstGeom prst="rect">
            <a:avLst/>
          </a:prstGeom>
        </p:spPr>
      </p:pic>
      <p:sp>
        <p:nvSpPr>
          <p:cNvPr id="118" name="Text 114"/>
          <p:cNvSpPr txBox="1"/>
          <p:nvPr/>
        </p:nvSpPr>
        <p:spPr>
          <a:xfrm>
            <a:off x="548640" y="14173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</a:t>
            </a:r>
            <a:endParaRPr lang="en-US" sz="3400" dirty="0"/>
          </a:p>
        </p:txBody>
      </p:sp>
      <p:sp>
        <p:nvSpPr>
          <p:cNvPr id="119" name="Text 115"/>
          <p:cNvSpPr txBox="1"/>
          <p:nvPr/>
        </p:nvSpPr>
        <p:spPr>
          <a:xfrm>
            <a:off x="548640" y="2103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挖出可交易的 Alpha，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并让它经得起检验、卖得出去。</a:t>
            </a:r>
            <a:endParaRPr lang="en-US" sz="1650" dirty="0"/>
          </a:p>
        </p:txBody>
      </p:sp>
      <p:sp>
        <p:nvSpPr>
          <p:cNvPr id="120" name="Text 116"/>
          <p:cNvSpPr txBox="1"/>
          <p:nvPr/>
        </p:nvSpPr>
        <p:spPr>
          <a:xfrm>
            <a:off x="548640" y="31089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投研一站式网站：行情终端 · 无前视回测 · AI 因子挖掘闭环 · 端到端量化流水线 · 策略与因子交易市场</a:t>
            </a:r>
            <a:endParaRPr lang="en-US" sz="1100" dirty="0"/>
          </a:p>
        </p:txBody>
      </p:sp>
      <p:sp>
        <p:nvSpPr>
          <p:cNvPr id="121" name="Text 117"/>
          <p:cNvSpPr txBox="1"/>
          <p:nvPr/>
        </p:nvSpPr>
        <p:spPr>
          <a:xfrm>
            <a:off x="54864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项目路演 · 2026 年 9 月 · 主讲：Presley Zhou</a:t>
            </a:r>
            <a:endParaRPr lang="en-US" sz="1050" dirty="0"/>
          </a:p>
        </p:txBody>
      </p:sp>
      <p:sp>
        <p:nvSpPr>
          <p:cNvPr id="122" name="Text 118"/>
          <p:cNvSpPr txBox="1"/>
          <p:nvPr/>
        </p:nvSpPr>
        <p:spPr>
          <a:xfrm>
            <a:off x="548640" y="4434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aiquant-rust.vercel.app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让「想法」变得廉价，「可信的验证」反而更贵了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投研工作流的三个断点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E1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566928" cy="56692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想法过剩，验证滞后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LLM 一分钟能写出 100 条因子表达式；但要判断哪一条能赚钱，研究员仍在 Excel、脚本和回测框架之间手工搬运数据，一条因子要半天。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E1E9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600200"/>
            <a:ext cx="566928" cy="5669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373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过拟合成了行业默认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试得越多，随机撞中的「假信号」越多；绝大多数回测漂亮的因子扣掉交易成本、换手和样本外衰减之后归零。看过 1000 条因子却没有多重检验的纠正，等于没看。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E1E9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1600200"/>
            <a:ext cx="566928" cy="566928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上线之后没有人盯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信号一旦上线，回测与实盘的差距悄悄拉大，没有系统持续复检、报警，直到亏损才发现。个人与小团队更买不起每年 2 万美元级别的终端。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2/14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我们的答案：真实跑通的「输入 → 处理 → 输出」</a:t>
            </a:r>
            <a:endParaRPr lang="en-US" sz="2400" dirty="0"/>
          </a:p>
        </p:txBody>
      </p:sp>
      <p:sp>
        <p:nvSpPr>
          <p:cNvPr id="115" name="Text 113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已上线，今天现场演示的就是这条流程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57200" y="146304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0080" y="1645920"/>
            <a:ext cx="512064" cy="512064"/>
          </a:xfrm>
          <a:prstGeom prst="ellipse">
            <a:avLst/>
          </a:prstGeom>
          <a:solidFill>
            <a:srgbClr val="3BE0FF"/>
          </a:solidFill>
          <a:ln w="12700">
            <a:solidFill>
              <a:srgbClr val="3BE0FF"/>
            </a:solidFill>
            <a:prstDash val="solid"/>
          </a:ln>
        </p:spPr>
      </p:sp>
      <p:pic>
        <p:nvPicPr>
          <p:cNvPr id="1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768815"/>
            <a:ext cx="266273" cy="266273"/>
          </a:xfrm>
          <a:prstGeom prst="rect">
            <a:avLst/>
          </a:prstGeom>
        </p:spPr>
      </p:pic>
      <p:sp>
        <p:nvSpPr>
          <p:cNvPr id="119" name="Text 116"/>
          <p:cNvSpPr txBox="1"/>
          <p:nvPr/>
        </p:nvSpPr>
        <p:spPr>
          <a:xfrm>
            <a:off x="1243584" y="164592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700" dirty="0"/>
          </a:p>
        </p:txBody>
      </p:sp>
      <p:sp>
        <p:nvSpPr>
          <p:cNvPr id="120" name="Text 117"/>
          <p:cNvSpPr txBox="1"/>
          <p:nvPr/>
        </p:nvSpPr>
        <p:spPr>
          <a:xfrm>
            <a:off x="640080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一句投资假设或一个市场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（美股 118 只 / 加密 40 币 / 小时级）</a:t>
            </a:r>
            <a:endParaRPr lang="en-US" sz="1050" dirty="0"/>
          </a:p>
        </p:txBody>
      </p:sp>
      <p:sp>
        <p:nvSpPr>
          <p:cNvPr id="121" name="Text 118"/>
          <p:cNvSpPr txBox="1"/>
          <p:nvPr/>
        </p:nvSpPr>
        <p:spPr>
          <a:xfrm>
            <a:off x="640080" y="3703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「成交量放大后的突破会延续吗？」</a:t>
            </a:r>
            <a:endParaRPr lang="en-US" sz="950" dirty="0"/>
          </a:p>
        </p:txBody>
      </p:sp>
      <p:sp>
        <p:nvSpPr>
          <p:cNvPr id="122" name="Text 119"/>
          <p:cNvSpPr txBox="1"/>
          <p:nvPr/>
        </p:nvSpPr>
        <p:spPr>
          <a:xfrm>
            <a:off x="2386584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3" name="Shape 120"/>
          <p:cNvSpPr/>
          <p:nvPr/>
        </p:nvSpPr>
        <p:spPr>
          <a:xfrm>
            <a:off x="2560320" y="146304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2743200" y="1645920"/>
            <a:ext cx="512064" cy="512064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1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95" y="1768815"/>
            <a:ext cx="266273" cy="266273"/>
          </a:xfrm>
          <a:prstGeom prst="rect">
            <a:avLst/>
          </a:prstGeom>
        </p:spPr>
      </p:pic>
      <p:sp>
        <p:nvSpPr>
          <p:cNvPr id="126" name="Text 122"/>
          <p:cNvSpPr txBox="1"/>
          <p:nvPr/>
        </p:nvSpPr>
        <p:spPr>
          <a:xfrm>
            <a:off x="3346704" y="164592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700" dirty="0"/>
          </a:p>
        </p:txBody>
      </p:sp>
      <p:sp>
        <p:nvSpPr>
          <p:cNvPr id="127" name="Text 123"/>
          <p:cNvSpPr txBox="1"/>
          <p:nvPr/>
        </p:nvSpPr>
        <p:spPr>
          <a:xfrm>
            <a:off x="2743200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提出因子表达式 → 确定性评估器打分 → 指令式反馈进入下一轮；遗传进化引擎并行搜索</a:t>
            </a:r>
            <a:endParaRPr lang="en-US" sz="1050" dirty="0"/>
          </a:p>
        </p:txBody>
      </p:sp>
      <p:sp>
        <p:nvSpPr>
          <p:cNvPr id="128" name="Text 124"/>
          <p:cNvSpPr txBox="1"/>
          <p:nvPr/>
        </p:nvSpPr>
        <p:spPr>
          <a:xfrm>
            <a:off x="2743200" y="3703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轮 · 数十条候选 · 全程样本外留出</a:t>
            </a:r>
            <a:endParaRPr lang="en-US" sz="950" dirty="0"/>
          </a:p>
        </p:txBody>
      </p:sp>
      <p:sp>
        <p:nvSpPr>
          <p:cNvPr id="129" name="Text 125"/>
          <p:cNvSpPr txBox="1"/>
          <p:nvPr/>
        </p:nvSpPr>
        <p:spPr>
          <a:xfrm>
            <a:off x="4489704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0" name="Shape 126"/>
          <p:cNvSpPr/>
          <p:nvPr/>
        </p:nvSpPr>
        <p:spPr>
          <a:xfrm>
            <a:off x="4663440" y="146304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4846320" y="1645920"/>
            <a:ext cx="512064" cy="51206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15" y="1768815"/>
            <a:ext cx="266273" cy="266273"/>
          </a:xfrm>
          <a:prstGeom prst="rect">
            <a:avLst/>
          </a:prstGeom>
        </p:spPr>
      </p:pic>
      <p:sp>
        <p:nvSpPr>
          <p:cNvPr id="133" name="Text 128"/>
          <p:cNvSpPr txBox="1"/>
          <p:nvPr/>
        </p:nvSpPr>
        <p:spPr>
          <a:xfrm>
            <a:off x="5449824" y="164592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</a:t>
            </a:r>
            <a:endParaRPr lang="en-US" sz="1700" dirty="0"/>
          </a:p>
        </p:txBody>
      </p:sp>
      <p:sp>
        <p:nvSpPr>
          <p:cNvPr id="134" name="Text 129"/>
          <p:cNvSpPr txBox="1"/>
          <p:nvPr/>
        </p:nvSpPr>
        <p:spPr>
          <a:xfrm>
            <a:off x="4846320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五项评级 + 多重检验门槛 + 可交易门禁（换手、成本后价差）</a:t>
            </a:r>
            <a:endParaRPr lang="en-US" sz="1050" dirty="0"/>
          </a:p>
        </p:txBody>
      </p:sp>
      <p:sp>
        <p:nvSpPr>
          <p:cNvPr id="135" name="Text 130"/>
          <p:cNvSpPr txBox="1"/>
          <p:nvPr/>
        </p:nvSpPr>
        <p:spPr>
          <a:xfrm>
            <a:off x="4846320" y="3703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A/B 级且扣成本为正才放行</a:t>
            </a:r>
            <a:endParaRPr lang="en-US" sz="950" dirty="0"/>
          </a:p>
        </p:txBody>
      </p:sp>
      <p:sp>
        <p:nvSpPr>
          <p:cNvPr id="136" name="Text 131"/>
          <p:cNvSpPr txBox="1"/>
          <p:nvPr/>
        </p:nvSpPr>
        <p:spPr>
          <a:xfrm>
            <a:off x="6592824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7" name="Shape 132"/>
          <p:cNvSpPr/>
          <p:nvPr/>
        </p:nvSpPr>
        <p:spPr>
          <a:xfrm>
            <a:off x="6766560" y="146304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6949440" y="1645920"/>
            <a:ext cx="512064" cy="512064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pic>
        <p:nvPicPr>
          <p:cNvPr id="1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35" y="1768815"/>
            <a:ext cx="266273" cy="266273"/>
          </a:xfrm>
          <a:prstGeom prst="rect">
            <a:avLst/>
          </a:prstGeom>
        </p:spPr>
      </p:pic>
      <p:sp>
        <p:nvSpPr>
          <p:cNvPr id="140" name="Text 134"/>
          <p:cNvSpPr txBox="1"/>
          <p:nvPr/>
        </p:nvSpPr>
        <p:spPr>
          <a:xfrm>
            <a:off x="7552944" y="164592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700" dirty="0"/>
          </a:p>
        </p:txBody>
      </p:sp>
      <p:sp>
        <p:nvSpPr>
          <p:cNvPr id="141" name="Text 135"/>
          <p:cNvSpPr txBox="1"/>
          <p:nvPr/>
        </p:nvSpPr>
        <p:spPr>
          <a:xfrm>
            <a:off x="6949440" y="22860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多因子组合 → 目标持仓 → 交易单；模拟持仓从上线日起样本外跟踪，每日监控推送</a:t>
            </a:r>
            <a:endParaRPr lang="en-US" sz="1050" dirty="0"/>
          </a:p>
        </p:txBody>
      </p:sp>
      <p:sp>
        <p:nvSpPr>
          <p:cNvPr id="142" name="Text 136"/>
          <p:cNvSpPr txBox="1"/>
          <p:nvPr/>
        </p:nvSpPr>
        <p:spPr>
          <a:xfrm>
            <a:off x="6949440" y="3703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EC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可直接执行，也可一键上架销售</a:t>
            </a:r>
            <a:endParaRPr lang="en-US" sz="950" dirty="0"/>
          </a:p>
        </p:txBody>
      </p:sp>
      <p:sp>
        <p:nvSpPr>
          <p:cNvPr id="143" name="Text 13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3/14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产品全景：一个网站装下从行情到交易单的全部环节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Bloomberg 式终端体验，面向个人研究者与小型团队的价格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02336" y="1316736"/>
            <a:ext cx="4681728" cy="2967228"/>
          </a:xfrm>
          <a:prstGeom prst="roundRect">
            <a:avLst>
              <a:gd name="adj" fmla="val 2465"/>
            </a:avLst>
          </a:prstGeom>
          <a:solidFill>
            <a:srgbClr val="DCE5F0"/>
          </a:solidFill>
          <a:ln w="9525">
            <a:solidFill>
              <a:srgbClr val="C5D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28575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839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线上终端首页：跑马灯行情、K 线与指标、自选与预警、AI 分析面板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49240" y="1399032"/>
            <a:ext cx="457200" cy="4572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508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行情终端与回测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16093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美股 / 加密双终端，实时行情，下一根开盘成交、双边成本、始终对照买入持有的诚实回测，含止损 / 止盈 / 波动目标等风控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349240" y="2249424"/>
            <a:ext cx="457200" cy="457200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35915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0" y="2176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因子挖掘 + Kronos 预测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5943600" y="24597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闭环挖掘与遗传进化两台引擎；开源 K 线基础模型 Kronos 做多步预测并公开滚动准确率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349240" y="3099816"/>
            <a:ext cx="457200" cy="4572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320954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943600" y="3026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端到端量化流水线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943600" y="33101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宇宙 → 信号 → 组合优化 → 风险 → 目标持仓 → 交易单，CPCV 与去除多重检验偏差的 Sharpe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349240" y="3950208"/>
            <a:ext cx="457200" cy="457200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405993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94360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交易市场与钱包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5943600" y="4160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 / 因子上架买卖，Stripe 与加密货币支付，服务器签发权益凭证，退款争议与审计日志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4/14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 ①  Loop Engineering：让 AI 在规则里迭代</a:t>
            </a:r>
            <a:endParaRPr lang="en-US" sz="2400" dirty="0"/>
          </a:p>
        </p:txBody>
      </p:sp>
      <p:sp>
        <p:nvSpPr>
          <p:cNvPr id="115" name="Text 113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提出 → 确定性评估 → 指令式反馈 → 跨会话记忆，两台引擎互为验证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777240" y="2057400"/>
            <a:ext cx="1828800" cy="1828800"/>
          </a:xfrm>
          <a:prstGeom prst="ellipse">
            <a:avLst/>
          </a:prstGeom>
          <a:ln w="19050">
            <a:solidFill>
              <a:srgbClr val="2A3F6A"/>
            </a:solidFill>
            <a:prstDash val="dash"/>
          </a:ln>
        </p:spPr>
      </p:sp>
      <p:sp>
        <p:nvSpPr>
          <p:cNvPr id="117" name="Text 115"/>
          <p:cNvSpPr txBox="1"/>
          <p:nvPr/>
        </p:nvSpPr>
        <p:spPr>
          <a:xfrm>
            <a:off x="123444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</a:t>
            </a:r>
            <a:endParaRPr lang="en-US" sz="1500" dirty="0"/>
          </a:p>
        </p:txBody>
      </p:sp>
      <p:sp>
        <p:nvSpPr>
          <p:cNvPr id="118" name="Shape 116"/>
          <p:cNvSpPr/>
          <p:nvPr/>
        </p:nvSpPr>
        <p:spPr>
          <a:xfrm>
            <a:off x="1435608" y="1801368"/>
            <a:ext cx="512064" cy="512064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1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503" y="1924263"/>
            <a:ext cx="266273" cy="266273"/>
          </a:xfrm>
          <a:prstGeom prst="rect">
            <a:avLst/>
          </a:prstGeom>
        </p:spPr>
      </p:pic>
      <p:sp>
        <p:nvSpPr>
          <p:cNvPr id="120" name="Text 117"/>
          <p:cNvSpPr txBox="1"/>
          <p:nvPr/>
        </p:nvSpPr>
        <p:spPr>
          <a:xfrm>
            <a:off x="1143000" y="1435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</a:t>
            </a:r>
            <a:endParaRPr lang="en-US" sz="1250" dirty="0"/>
          </a:p>
        </p:txBody>
      </p:sp>
      <p:sp>
        <p:nvSpPr>
          <p:cNvPr id="121" name="Shape 118"/>
          <p:cNvSpPr/>
          <p:nvPr/>
        </p:nvSpPr>
        <p:spPr>
          <a:xfrm>
            <a:off x="2350008" y="2715768"/>
            <a:ext cx="512064" cy="512064"/>
          </a:xfrm>
          <a:prstGeom prst="ellipse">
            <a:avLst/>
          </a:prstGeom>
          <a:solidFill>
            <a:srgbClr val="3BE0FF"/>
          </a:solidFill>
          <a:ln w="12700">
            <a:solidFill>
              <a:srgbClr val="3BE0FF"/>
            </a:solidFill>
            <a:prstDash val="solid"/>
          </a:ln>
        </p:spPr>
      </p:sp>
      <p:pic>
        <p:nvPicPr>
          <p:cNvPr id="1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903" y="2838663"/>
            <a:ext cx="266273" cy="266273"/>
          </a:xfrm>
          <a:prstGeom prst="rect">
            <a:avLst/>
          </a:prstGeom>
        </p:spPr>
      </p:pic>
      <p:sp>
        <p:nvSpPr>
          <p:cNvPr id="123" name="Text 119"/>
          <p:cNvSpPr txBox="1"/>
          <p:nvPr/>
        </p:nvSpPr>
        <p:spPr>
          <a:xfrm>
            <a:off x="2057400" y="2350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250" dirty="0"/>
          </a:p>
        </p:txBody>
      </p:sp>
      <p:sp>
        <p:nvSpPr>
          <p:cNvPr id="124" name="Shape 120"/>
          <p:cNvSpPr/>
          <p:nvPr/>
        </p:nvSpPr>
        <p:spPr>
          <a:xfrm>
            <a:off x="1435608" y="3630168"/>
            <a:ext cx="512064" cy="51206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503" y="3753063"/>
            <a:ext cx="266273" cy="266273"/>
          </a:xfrm>
          <a:prstGeom prst="rect">
            <a:avLst/>
          </a:prstGeom>
        </p:spPr>
      </p:pic>
      <p:sp>
        <p:nvSpPr>
          <p:cNvPr id="126" name="Text 121"/>
          <p:cNvSpPr txBox="1"/>
          <p:nvPr/>
        </p:nvSpPr>
        <p:spPr>
          <a:xfrm>
            <a:off x="1143000" y="41788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250" dirty="0"/>
          </a:p>
        </p:txBody>
      </p:sp>
      <p:sp>
        <p:nvSpPr>
          <p:cNvPr id="127" name="Shape 122"/>
          <p:cNvSpPr/>
          <p:nvPr/>
        </p:nvSpPr>
        <p:spPr>
          <a:xfrm>
            <a:off x="521208" y="2715768"/>
            <a:ext cx="512064" cy="512064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pic>
        <p:nvPicPr>
          <p:cNvPr id="1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03" y="2838663"/>
            <a:ext cx="266273" cy="266273"/>
          </a:xfrm>
          <a:prstGeom prst="rect">
            <a:avLst/>
          </a:prstGeom>
        </p:spPr>
      </p:pic>
      <p:sp>
        <p:nvSpPr>
          <p:cNvPr id="129" name="Text 123"/>
          <p:cNvSpPr txBox="1"/>
          <p:nvPr/>
        </p:nvSpPr>
        <p:spPr>
          <a:xfrm>
            <a:off x="228600" y="23500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C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250" dirty="0"/>
          </a:p>
        </p:txBody>
      </p:sp>
      <p:sp>
        <p:nvSpPr>
          <p:cNvPr id="130" name="Text 124"/>
          <p:cNvSpPr txBox="1"/>
          <p:nvPr/>
        </p:nvSpPr>
        <p:spPr>
          <a:xfrm>
            <a:off x="310896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</a:t>
            </a:r>
            <a:endParaRPr lang="en-US" sz="1150" dirty="0"/>
          </a:p>
        </p:txBody>
      </p:sp>
      <p:sp>
        <p:nvSpPr>
          <p:cNvPr id="131" name="Text 125"/>
          <p:cNvSpPr txBox="1"/>
          <p:nvPr/>
        </p:nvSpPr>
        <p:spPr>
          <a:xfrm>
            <a:off x="3108960" y="16733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在安全 DSL 内写因子表达式（自研解析器，永不 eval）</a:t>
            </a:r>
            <a:endParaRPr lang="en-US" sz="850" dirty="0"/>
          </a:p>
        </p:txBody>
      </p:sp>
      <p:sp>
        <p:nvSpPr>
          <p:cNvPr id="132" name="Text 126"/>
          <p:cNvSpPr txBox="1"/>
          <p:nvPr/>
        </p:nvSpPr>
        <p:spPr>
          <a:xfrm>
            <a:off x="3108960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150" dirty="0"/>
          </a:p>
        </p:txBody>
      </p:sp>
      <p:sp>
        <p:nvSpPr>
          <p:cNvPr id="133" name="Text 127"/>
          <p:cNvSpPr txBox="1"/>
          <p:nvPr/>
        </p:nvSpPr>
        <p:spPr>
          <a:xfrm>
            <a:off x="3108960" y="24505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确定性评估器：秩 IC、ICIR、留出集、换手、成本后价差、t 统计量</a:t>
            </a:r>
            <a:endParaRPr lang="en-US" sz="850" dirty="0"/>
          </a:p>
        </p:txBody>
      </p:sp>
      <p:sp>
        <p:nvSpPr>
          <p:cNvPr id="134" name="Text 128"/>
          <p:cNvSpPr txBox="1"/>
          <p:nvPr/>
        </p:nvSpPr>
        <p:spPr>
          <a:xfrm>
            <a:off x="3108960" y="2971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150" dirty="0"/>
          </a:p>
        </p:txBody>
      </p:sp>
      <p:sp>
        <p:nvSpPr>
          <p:cNvPr id="135" name="Text 129"/>
          <p:cNvSpPr txBox="1"/>
          <p:nvPr/>
        </p:nvSpPr>
        <p:spPr>
          <a:xfrm>
            <a:off x="3108960" y="32278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把「为什么被拒」写成指令送回下一轮：别重复、别相似、换方向</a:t>
            </a:r>
            <a:endParaRPr lang="en-US" sz="850" dirty="0"/>
          </a:p>
        </p:txBody>
      </p:sp>
      <p:sp>
        <p:nvSpPr>
          <p:cNvPr id="136" name="Text 130"/>
          <p:cNvSpPr txBox="1"/>
          <p:nvPr/>
        </p:nvSpPr>
        <p:spPr>
          <a:xfrm>
            <a:off x="310896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150" dirty="0"/>
          </a:p>
        </p:txBody>
      </p:sp>
      <p:sp>
        <p:nvSpPr>
          <p:cNvPr id="137" name="Text 131"/>
          <p:cNvSpPr txBox="1"/>
          <p:nvPr/>
        </p:nvSpPr>
        <p:spPr>
          <a:xfrm>
            <a:off x="310896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因子库与错题本跨会话带入，重复与近似候选直接跳过</a:t>
            </a:r>
            <a:endParaRPr lang="en-US" sz="850" dirty="0"/>
          </a:p>
        </p:txBody>
      </p:sp>
      <p:sp>
        <p:nvSpPr>
          <p:cNvPr id="138" name="Shape 132"/>
          <p:cNvSpPr/>
          <p:nvPr/>
        </p:nvSpPr>
        <p:spPr>
          <a:xfrm>
            <a:off x="4882896" y="1362456"/>
            <a:ext cx="3858768" cy="929831"/>
          </a:xfrm>
          <a:prstGeom prst="roundRect">
            <a:avLst>
              <a:gd name="adj" fmla="val 7867"/>
            </a:avLst>
          </a:prstGeom>
          <a:solidFill>
            <a:srgbClr val="1A2640"/>
          </a:solidFill>
          <a:ln w="9525">
            <a:solidFill>
              <a:srgbClr val="2739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1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417320"/>
            <a:ext cx="3749040" cy="820103"/>
          </a:xfrm>
          <a:prstGeom prst="rect">
            <a:avLst/>
          </a:prstGeom>
        </p:spPr>
      </p:pic>
      <p:sp>
        <p:nvSpPr>
          <p:cNvPr id="140" name="Text 133"/>
          <p:cNvSpPr txBox="1"/>
          <p:nvPr/>
        </p:nvSpPr>
        <p:spPr>
          <a:xfrm>
            <a:off x="4937760" y="2292287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挖掘表单：市场、持有期、成本假设、严格模式；右侧为实时循环日志</a:t>
            </a:r>
            <a:endParaRPr lang="en-US" sz="850" dirty="0"/>
          </a:p>
        </p:txBody>
      </p:sp>
      <p:sp>
        <p:nvSpPr>
          <p:cNvPr id="141" name="Shape 134"/>
          <p:cNvSpPr/>
          <p:nvPr/>
        </p:nvSpPr>
        <p:spPr>
          <a:xfrm>
            <a:off x="4937760" y="2694623"/>
            <a:ext cx="3749040" cy="1877378"/>
          </a:xfrm>
          <a:prstGeom prst="roundRect">
            <a:avLst>
              <a:gd name="adj" fmla="val 4871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42" name="Shape 135"/>
          <p:cNvSpPr/>
          <p:nvPr/>
        </p:nvSpPr>
        <p:spPr>
          <a:xfrm>
            <a:off x="5074920" y="2831783"/>
            <a:ext cx="402336" cy="402336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1481" y="2928343"/>
            <a:ext cx="209215" cy="209215"/>
          </a:xfrm>
          <a:prstGeom prst="rect">
            <a:avLst/>
          </a:prstGeom>
        </p:spPr>
      </p:pic>
      <p:sp>
        <p:nvSpPr>
          <p:cNvPr id="144" name="Text 136"/>
          <p:cNvSpPr txBox="1"/>
          <p:nvPr/>
        </p:nvSpPr>
        <p:spPr>
          <a:xfrm>
            <a:off x="5577840" y="2831783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第二台引擎：遗传进化（GP）</a:t>
            </a:r>
            <a:endParaRPr lang="en-US" sz="1200" dirty="0"/>
          </a:p>
        </p:txBody>
      </p:sp>
      <p:sp>
        <p:nvSpPr>
          <p:cNvPr id="145" name="Text 137"/>
          <p:cNvSpPr txBox="1"/>
          <p:nvPr/>
        </p:nvSpPr>
        <p:spPr>
          <a:xfrm>
            <a:off x="5074920" y="3298127"/>
            <a:ext cx="3474720" cy="1191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 LLM 的符号回归搜索，适应度同样扣除成本与换手；两台引擎找到相同方向的因子时，可信度倍增。小时级加密市场（40 币 × 1h）已支持。</a:t>
            </a:r>
            <a:endParaRPr lang="en-US" sz="950" dirty="0"/>
          </a:p>
        </p:txBody>
      </p:sp>
      <p:sp>
        <p:nvSpPr>
          <p:cNvPr id="146" name="Text 13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5/14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 ②  五道门禁：区分「回测漂亮」与「能赚钱」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每一条因子都要拿到一张报告卡；不过门，就不能进组合、不能上架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62456"/>
            <a:ext cx="457200" cy="4572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72184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3258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预测力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13258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分位收益单调性、IC 衰减曲线、最佳持有期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1929384"/>
            <a:ext cx="457200" cy="457200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391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8928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057400" y="18928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折滚动 IC、分期有效性热图、牛熊分市场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496312"/>
            <a:ext cx="457200" cy="457200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0604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45973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2057400" y="245973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严格模式：≥3/4 折 + 两种市场状态同向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729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02666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可交易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2057400" y="30266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Top-N 换手、扣 10–15 bp 成本后的多空价差为正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3630168"/>
            <a:ext cx="457200" cy="457200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39896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5935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显著性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2057400" y="35935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多重检验修正：|t| 门槛随累计试验次数上升（2.0→3.0）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57200" y="420624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FFF7E3"/>
          </a:solidFill>
          <a:ln w="9525">
            <a:solidFill>
              <a:srgbClr val="F3E2B3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94360" y="42336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对投资人的意义：</a:t>
            </a:r>
            <a:pPr indent="0" marL="0">
              <a:buNone/>
            </a:pPr>
            <a:r>
              <a:rPr lang="en-US" sz="90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一键生成因子」把筛选责任丢给用户；我们把筛选做成产品核心，并公开上线后成绩。信任是这个市场的稀缺品。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431536" y="1271016"/>
            <a:ext cx="3218688" cy="3184253"/>
          </a:xfrm>
          <a:prstGeom prst="roundRect">
            <a:avLst>
              <a:gd name="adj" fmla="val 2297"/>
            </a:avLst>
          </a:prstGeom>
          <a:solidFill>
            <a:srgbClr val="DCE5F0"/>
          </a:solidFill>
          <a:ln w="9525">
            <a:solidFill>
              <a:srgbClr val="C5D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325880"/>
            <a:ext cx="3108960" cy="307452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486400" y="445526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因子报告卡（真实页面）：五项评级与改进建议</a:t>
            </a:r>
            <a:endParaRPr lang="en-US" sz="85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6/14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从因子到交易单，再到上线后的每一天</a:t>
            </a:r>
            <a:endParaRPr lang="en-US" sz="2400" dirty="0"/>
          </a:p>
        </p:txBody>
      </p:sp>
      <p:sp>
        <p:nvSpPr>
          <p:cNvPr id="115" name="Text 113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端到端流水线 · 模拟持仓样本外跟踪 · 每日自动监控与推送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02336" y="1316736"/>
            <a:ext cx="2121408" cy="1575898"/>
          </a:xfrm>
          <a:prstGeom prst="roundRect">
            <a:avLst>
              <a:gd name="adj" fmla="val 4642"/>
            </a:avLst>
          </a:prstGeom>
          <a:solidFill>
            <a:srgbClr val="1A2640"/>
          </a:solidFill>
          <a:ln w="9525">
            <a:solidFill>
              <a:srgbClr val="2739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1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011680" cy="1466170"/>
          </a:xfrm>
          <a:prstGeom prst="rect">
            <a:avLst/>
          </a:prstGeom>
        </p:spPr>
      </p:pic>
      <p:sp>
        <p:nvSpPr>
          <p:cNvPr id="118" name="Text 115"/>
          <p:cNvSpPr txBox="1"/>
          <p:nvPr/>
        </p:nvSpPr>
        <p:spPr>
          <a:xfrm>
            <a:off x="457200" y="289263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流水线：目标持仓与调仓单</a:t>
            </a:r>
            <a:endParaRPr lang="en-US" sz="850" dirty="0"/>
          </a:p>
        </p:txBody>
      </p:sp>
      <p:sp>
        <p:nvSpPr>
          <p:cNvPr id="119" name="Shape 116"/>
          <p:cNvSpPr/>
          <p:nvPr/>
        </p:nvSpPr>
        <p:spPr>
          <a:xfrm>
            <a:off x="2596896" y="1316736"/>
            <a:ext cx="2121408" cy="1774626"/>
          </a:xfrm>
          <a:prstGeom prst="roundRect">
            <a:avLst>
              <a:gd name="adj" fmla="val 4122"/>
            </a:avLst>
          </a:prstGeom>
          <a:solidFill>
            <a:srgbClr val="1A2640"/>
          </a:solidFill>
          <a:ln w="9525">
            <a:solidFill>
              <a:srgbClr val="2739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71600"/>
            <a:ext cx="2011680" cy="1664898"/>
          </a:xfrm>
          <a:prstGeom prst="rect">
            <a:avLst/>
          </a:prstGeom>
        </p:spPr>
      </p:pic>
      <p:sp>
        <p:nvSpPr>
          <p:cNvPr id="121" name="Text 117"/>
          <p:cNvSpPr txBox="1"/>
          <p:nvPr/>
        </p:nvSpPr>
        <p:spPr>
          <a:xfrm>
            <a:off x="2651760" y="309136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模拟持仓：上线日起样本外回放</a:t>
            </a:r>
            <a:endParaRPr lang="en-US" sz="850" dirty="0"/>
          </a:p>
        </p:txBody>
      </p:sp>
      <p:sp>
        <p:nvSpPr>
          <p:cNvPr id="122" name="Text 118"/>
          <p:cNvSpPr txBox="1"/>
          <p:nvPr/>
        </p:nvSpPr>
        <p:spPr>
          <a:xfrm>
            <a:off x="45720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类</a:t>
            </a:r>
            <a:endParaRPr lang="en-US" sz="2200" dirty="0"/>
          </a:p>
        </p:txBody>
      </p:sp>
      <p:sp>
        <p:nvSpPr>
          <p:cNvPr id="123" name="Text 119"/>
          <p:cNvSpPr txBox="1"/>
          <p:nvPr/>
        </p:nvSpPr>
        <p:spPr>
          <a:xfrm>
            <a:off x="457200" y="39959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每日告警：回撤、衰减、需调仓、数据陈旧、重算失败</a:t>
            </a:r>
            <a:endParaRPr lang="en-US" sz="850" dirty="0"/>
          </a:p>
        </p:txBody>
      </p:sp>
      <p:sp>
        <p:nvSpPr>
          <p:cNvPr id="124" name="Text 120"/>
          <p:cNvSpPr txBox="1"/>
          <p:nvPr/>
        </p:nvSpPr>
        <p:spPr>
          <a:xfrm>
            <a:off x="1892808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</a:t>
            </a:r>
            <a:endParaRPr lang="en-US" sz="2200" dirty="0"/>
          </a:p>
        </p:txBody>
      </p:sp>
      <p:sp>
        <p:nvSpPr>
          <p:cNvPr id="125" name="Text 121"/>
          <p:cNvSpPr txBox="1"/>
          <p:nvPr/>
        </p:nvSpPr>
        <p:spPr>
          <a:xfrm>
            <a:off x="1892808" y="39959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推送渠道：Slack · Discord · Telegram</a:t>
            </a:r>
            <a:endParaRPr lang="en-US" sz="850" dirty="0"/>
          </a:p>
        </p:txBody>
      </p:sp>
      <p:sp>
        <p:nvSpPr>
          <p:cNvPr id="126" name="Text 122"/>
          <p:cNvSpPr txBox="1"/>
          <p:nvPr/>
        </p:nvSpPr>
        <p:spPr>
          <a:xfrm>
            <a:off x="3328416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2200" dirty="0"/>
          </a:p>
        </p:txBody>
      </p:sp>
      <p:sp>
        <p:nvSpPr>
          <p:cNvPr id="127" name="Text 123"/>
          <p:cNvSpPr txBox="1"/>
          <p:nvPr/>
        </p:nvSpPr>
        <p:spPr>
          <a:xfrm>
            <a:off x="3328416" y="39959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服务器自动重检所有上架与已同步因子</a:t>
            </a:r>
            <a:endParaRPr lang="en-US" sz="850" dirty="0"/>
          </a:p>
        </p:txBody>
      </p:sp>
      <p:sp>
        <p:nvSpPr>
          <p:cNvPr id="128" name="Shape 124"/>
          <p:cNvSpPr/>
          <p:nvPr/>
        </p:nvSpPr>
        <p:spPr>
          <a:xfrm>
            <a:off x="4983480" y="1389888"/>
            <a:ext cx="457200" cy="4572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1499616"/>
            <a:ext cx="237744" cy="237744"/>
          </a:xfrm>
          <a:prstGeom prst="rect">
            <a:avLst/>
          </a:prstGeom>
        </p:spPr>
      </p:pic>
      <p:sp>
        <p:nvSpPr>
          <p:cNvPr id="130" name="Text 125"/>
          <p:cNvSpPr txBox="1"/>
          <p:nvPr/>
        </p:nvSpPr>
        <p:spPr>
          <a:xfrm>
            <a:off x="5577840" y="1371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端到端流水线</a:t>
            </a:r>
            <a:endParaRPr lang="en-US" sz="1300" dirty="0"/>
          </a:p>
        </p:txBody>
      </p:sp>
      <p:sp>
        <p:nvSpPr>
          <p:cNvPr id="131" name="Text 126"/>
          <p:cNvSpPr txBox="1"/>
          <p:nvPr/>
        </p:nvSpPr>
        <p:spPr>
          <a:xfrm>
            <a:off x="5577840" y="168249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宇宙 → 多因子信号（扩展窗口 IC 权重，每一天都是样本外）→ 均值方差 + 换手惩罚 → 风险 → 目标持仓 → 交易单；CPCV 6 组交叉验证与多重检验校正后的 Sharpe。</a:t>
            </a:r>
            <a:endParaRPr lang="en-US" sz="950" dirty="0"/>
          </a:p>
        </p:txBody>
      </p:sp>
      <p:sp>
        <p:nvSpPr>
          <p:cNvPr id="132" name="Shape 127"/>
          <p:cNvSpPr/>
          <p:nvPr/>
        </p:nvSpPr>
        <p:spPr>
          <a:xfrm>
            <a:off x="4983480" y="2487168"/>
            <a:ext cx="457200" cy="457200"/>
          </a:xfrm>
          <a:prstGeom prst="ellipse">
            <a:avLst/>
          </a:prstGeom>
          <a:solidFill>
            <a:srgbClr val="3BE0FF"/>
          </a:solidFill>
          <a:ln w="12700">
            <a:solidFill>
              <a:srgbClr val="3BE0FF"/>
            </a:solidFill>
            <a:prstDash val="solid"/>
          </a:ln>
        </p:spPr>
      </p:sp>
      <p:pic>
        <p:nvPicPr>
          <p:cNvPr id="1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596896"/>
            <a:ext cx="237744" cy="237744"/>
          </a:xfrm>
          <a:prstGeom prst="rect">
            <a:avLst/>
          </a:prstGeom>
        </p:spPr>
      </p:pic>
      <p:sp>
        <p:nvSpPr>
          <p:cNvPr id="134" name="Text 128"/>
          <p:cNvSpPr txBox="1"/>
          <p:nvPr/>
        </p:nvSpPr>
        <p:spPr>
          <a:xfrm>
            <a:off x="5577840" y="2468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模拟持仓与监控</a:t>
            </a:r>
            <a:endParaRPr lang="en-US" sz="1300" dirty="0"/>
          </a:p>
        </p:txBody>
      </p:sp>
      <p:sp>
        <p:nvSpPr>
          <p:cNvPr id="135" name="Text 129"/>
          <p:cNvSpPr txBox="1"/>
          <p:nvPr/>
        </p:nvSpPr>
        <p:spPr>
          <a:xfrm>
            <a:off x="5577840" y="277977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任何策略 / 因子按真实日期部署，NAV 从那天起回放；每个交易日收盘后服务器重算，回撤超限、边际衰减、需调仓、数据陈旧五类告警推送到 Slack / Discord / Telegram。</a:t>
            </a:r>
            <a:endParaRPr lang="en-US" sz="950" dirty="0"/>
          </a:p>
        </p:txBody>
      </p:sp>
      <p:sp>
        <p:nvSpPr>
          <p:cNvPr id="136" name="Shape 130"/>
          <p:cNvSpPr/>
          <p:nvPr/>
        </p:nvSpPr>
        <p:spPr>
          <a:xfrm>
            <a:off x="4983480" y="3584448"/>
            <a:ext cx="457200" cy="457200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pic>
        <p:nvPicPr>
          <p:cNvPr id="1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3694176"/>
            <a:ext cx="237744" cy="237744"/>
          </a:xfrm>
          <a:prstGeom prst="rect">
            <a:avLst/>
          </a:prstGeom>
        </p:spPr>
      </p:pic>
      <p:sp>
        <p:nvSpPr>
          <p:cNvPr id="138" name="Text 131"/>
          <p:cNvSpPr txBox="1"/>
          <p:nvPr/>
        </p:nvSpPr>
        <p:spPr>
          <a:xfrm>
            <a:off x="5577840" y="35661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运维闭环</a:t>
            </a:r>
            <a:endParaRPr lang="en-US" sz="1300" dirty="0"/>
          </a:p>
        </p:txBody>
      </p:sp>
      <p:sp>
        <p:nvSpPr>
          <p:cNvPr id="139" name="Text 132"/>
          <p:cNvSpPr txBox="1"/>
          <p:nvPr/>
        </p:nvSpPr>
        <p:spPr>
          <a:xfrm>
            <a:off x="5577840" y="387705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每日自动预热行情面板、重检所有上架与已同步因子、跑监控；数据源三重冗余（Binance / Yahoo / CoinGecko / Stooq）与健康看板。</a:t>
            </a:r>
            <a:endParaRPr lang="en-US" sz="950" dirty="0"/>
          </a:p>
        </p:txBody>
      </p:sp>
      <p:sp>
        <p:nvSpPr>
          <p:cNvPr id="140" name="Text 13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7/14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现场演示：3 分钟走完一次真实的「输入 → 处理 → 输出」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全部在线上环境完成，无预录视频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658368" cy="658368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44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30 秒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37160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打开因子挖掘，选择美股 / 10 日持有期，输入假设：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「成交量放大后的价格突破会延续」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658368" cy="658368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7797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90 秒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39572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启动闭环：观看 AI 提出表达式、评估器打分、被拒理由反馈；同时演示遗传进化的进度条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93008"/>
            <a:ext cx="658368" cy="658368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93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19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03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60 秒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41985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点开报告卡看五项评级 → 把通过门禁的因子「→ Pipeline」生成目标持仓与交易单 → 一键部署为模拟持仓 / 上架到市场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65776" y="1316736"/>
            <a:ext cx="3675888" cy="1144753"/>
          </a:xfrm>
          <a:prstGeom prst="roundRect">
            <a:avLst>
              <a:gd name="adj" fmla="val 6390"/>
            </a:avLst>
          </a:prstGeom>
          <a:solidFill>
            <a:srgbClr val="DCE5F0"/>
          </a:solidFill>
          <a:ln w="9525">
            <a:solidFill>
              <a:srgbClr val="C5D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371600"/>
            <a:ext cx="3566160" cy="103502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120640" y="2461489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因子库：体检徽标、家族标签、→ Pipeline 与上架按钮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065776" y="2808961"/>
            <a:ext cx="3675888" cy="1532086"/>
          </a:xfrm>
          <a:prstGeom prst="roundRect">
            <a:avLst>
              <a:gd name="adj" fmla="val 4775"/>
            </a:avLst>
          </a:prstGeom>
          <a:solidFill>
            <a:srgbClr val="DCE5F0"/>
          </a:solidFill>
          <a:ln w="9525">
            <a:solidFill>
              <a:srgbClr val="C5D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863825"/>
            <a:ext cx="3566160" cy="142235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120640" y="4341047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遗传进化引擎实时进度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8/14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商业模式：研究工具免费获客，交易与信任层变现</a:t>
            </a:r>
            <a:endParaRPr lang="en-US" sz="2400" dirty="0"/>
          </a:p>
        </p:txBody>
      </p:sp>
      <p:sp>
        <p:nvSpPr>
          <p:cNvPr id="115" name="Text 113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三层收入 + 一个越用越强的飞轮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57200" y="137160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1792" y="1572768"/>
            <a:ext cx="512064" cy="51206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" y="1695663"/>
            <a:ext cx="266273" cy="266273"/>
          </a:xfrm>
          <a:prstGeom prst="rect">
            <a:avLst/>
          </a:prstGeom>
        </p:spPr>
      </p:pic>
      <p:sp>
        <p:nvSpPr>
          <p:cNvPr id="119" name="Text 116"/>
          <p:cNvSpPr txBox="1"/>
          <p:nvPr/>
        </p:nvSpPr>
        <p:spPr>
          <a:xfrm>
            <a:off x="128016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市场分成（已上线）</a:t>
            </a:r>
            <a:endParaRPr lang="en-US" sz="1250" dirty="0"/>
          </a:p>
        </p:txBody>
      </p:sp>
      <p:sp>
        <p:nvSpPr>
          <p:cNvPr id="120" name="Text 117"/>
          <p:cNvSpPr txBox="1"/>
          <p:nvPr/>
        </p:nvSpPr>
        <p:spPr>
          <a:xfrm>
            <a:off x="1280160" y="17556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研究者把策略 / 因子上架，买家用银行卡、Apple Pay 或加密货币购买；平台收取 10% 手续费，服务器签发权益凭证，退款争议与审计日志保障双方。</a:t>
            </a:r>
            <a:endParaRPr lang="en-US" sz="850" dirty="0"/>
          </a:p>
        </p:txBody>
      </p:sp>
      <p:sp>
        <p:nvSpPr>
          <p:cNvPr id="121" name="Shape 118"/>
          <p:cNvSpPr/>
          <p:nvPr/>
        </p:nvSpPr>
        <p:spPr>
          <a:xfrm>
            <a:off x="457200" y="2395728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621792" y="2596896"/>
            <a:ext cx="512064" cy="512064"/>
          </a:xfrm>
          <a:prstGeom prst="ellipse">
            <a:avLst/>
          </a:prstGeom>
          <a:solidFill>
            <a:srgbClr val="3BE0FF"/>
          </a:solidFill>
          <a:ln w="12700">
            <a:solidFill>
              <a:srgbClr val="3BE0FF"/>
            </a:solidFill>
            <a:prstDash val="solid"/>
          </a:ln>
        </p:spPr>
      </p:sp>
      <p:pic>
        <p:nvPicPr>
          <p:cNvPr id="1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7" y="2719791"/>
            <a:ext cx="266273" cy="266273"/>
          </a:xfrm>
          <a:prstGeom prst="rect">
            <a:avLst/>
          </a:prstGeom>
        </p:spPr>
      </p:pic>
      <p:sp>
        <p:nvSpPr>
          <p:cNvPr id="124" name="Text 120"/>
          <p:cNvSpPr txBox="1"/>
          <p:nvPr/>
        </p:nvSpPr>
        <p:spPr>
          <a:xfrm>
            <a:off x="1280160" y="2487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Pro 订阅（2026 Q4）</a:t>
            </a:r>
            <a:endParaRPr lang="en-US" sz="1250" dirty="0"/>
          </a:p>
        </p:txBody>
      </p:sp>
      <p:sp>
        <p:nvSpPr>
          <p:cNvPr id="125" name="Text 121"/>
          <p:cNvSpPr txBox="1"/>
          <p:nvPr/>
        </p:nvSpPr>
        <p:spPr>
          <a:xfrm>
            <a:off x="1280160" y="27797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更高的 AI 挖掘额度、小时级市场、严格模式与多重检验报告、云端同步与每日监控推送；面向认真做研究的个人与小团队。</a:t>
            </a:r>
            <a:endParaRPr lang="en-US" sz="850" dirty="0"/>
          </a:p>
        </p:txBody>
      </p:sp>
      <p:sp>
        <p:nvSpPr>
          <p:cNvPr id="126" name="Shape 122"/>
          <p:cNvSpPr/>
          <p:nvPr/>
        </p:nvSpPr>
        <p:spPr>
          <a:xfrm>
            <a:off x="457200" y="3419856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21792" y="3621024"/>
            <a:ext cx="512064" cy="512064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1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87" y="3743919"/>
            <a:ext cx="266273" cy="266273"/>
          </a:xfrm>
          <a:prstGeom prst="rect">
            <a:avLst/>
          </a:prstGeom>
        </p:spPr>
      </p:pic>
      <p:sp>
        <p:nvSpPr>
          <p:cNvPr id="129" name="Text 124"/>
          <p:cNvSpPr txBox="1"/>
          <p:nvPr/>
        </p:nvSpPr>
        <p:spPr>
          <a:xfrm>
            <a:off x="1280160" y="3511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机构 API / 白标（2027）</a:t>
            </a:r>
            <a:endParaRPr lang="en-US" sz="1250" dirty="0"/>
          </a:p>
        </p:txBody>
      </p:sp>
      <p:sp>
        <p:nvSpPr>
          <p:cNvPr id="130" name="Text 125"/>
          <p:cNvSpPr txBox="1"/>
          <p:nvPr/>
        </p:nvSpPr>
        <p:spPr>
          <a:xfrm>
            <a:off x="1280160" y="38039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把「挖掘 → 门禁 → 流水线」以 API 或私有部署提供给券商投顾、FOF 与金融教育机构，按席位与调用量计费。</a:t>
            </a:r>
            <a:endParaRPr lang="en-US" sz="850" dirty="0"/>
          </a:p>
        </p:txBody>
      </p:sp>
      <p:sp>
        <p:nvSpPr>
          <p:cNvPr id="131" name="Shape 126"/>
          <p:cNvSpPr/>
          <p:nvPr/>
        </p:nvSpPr>
        <p:spPr>
          <a:xfrm>
            <a:off x="6172200" y="2057400"/>
            <a:ext cx="1737360" cy="1737360"/>
          </a:xfrm>
          <a:prstGeom prst="ellipse">
            <a:avLst/>
          </a:prstGeom>
          <a:ln w="19050">
            <a:solidFill>
              <a:srgbClr val="F0B429"/>
            </a:solidFill>
            <a:prstDash val="dash"/>
          </a:ln>
        </p:spPr>
      </p:sp>
      <p:sp>
        <p:nvSpPr>
          <p:cNvPr id="132" name="Text 127"/>
          <p:cNvSpPr txBox="1"/>
          <p:nvPr/>
        </p:nvSpPr>
        <p:spPr>
          <a:xfrm>
            <a:off x="649224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</a:t>
            </a:r>
            <a:endParaRPr lang="en-US" sz="1600" dirty="0"/>
          </a:p>
        </p:txBody>
      </p:sp>
      <p:sp>
        <p:nvSpPr>
          <p:cNvPr id="133" name="Text 128"/>
          <p:cNvSpPr txBox="1"/>
          <p:nvPr/>
        </p:nvSpPr>
        <p:spPr>
          <a:xfrm>
            <a:off x="603504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更多挖掘</a:t>
            </a:r>
            <a:endParaRPr lang="en-US" sz="950" dirty="0"/>
          </a:p>
        </p:txBody>
      </p:sp>
      <p:sp>
        <p:nvSpPr>
          <p:cNvPr id="134" name="Text 129"/>
          <p:cNvSpPr txBox="1"/>
          <p:nvPr/>
        </p:nvSpPr>
        <p:spPr>
          <a:xfrm>
            <a:off x="79552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更多通过门禁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的因子上架</a:t>
            </a:r>
            <a:endParaRPr lang="en-US" sz="950" dirty="0"/>
          </a:p>
        </p:txBody>
      </p:sp>
      <p:sp>
        <p:nvSpPr>
          <p:cNvPr id="135" name="Text 130"/>
          <p:cNvSpPr txBox="1"/>
          <p:nvPr/>
        </p:nvSpPr>
        <p:spPr>
          <a:xfrm>
            <a:off x="6035040" y="37764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更多买家与收入</a:t>
            </a:r>
            <a:endParaRPr lang="en-US" sz="950" dirty="0"/>
          </a:p>
        </p:txBody>
      </p:sp>
      <p:sp>
        <p:nvSpPr>
          <p:cNvPr id="136" name="Text 131"/>
          <p:cNvSpPr txBox="1"/>
          <p:nvPr/>
        </p:nvSpPr>
        <p:spPr>
          <a:xfrm>
            <a:off x="5303520" y="2560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更好的记忆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与评估数据</a:t>
            </a:r>
            <a:endParaRPr lang="en-US" sz="950" dirty="0"/>
          </a:p>
        </p:txBody>
      </p:sp>
      <p:sp>
        <p:nvSpPr>
          <p:cNvPr id="137" name="Text 13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9/14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市场：被专业终端定价拒之门外的一整代研究者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投研的用户不再只是机构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亿+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299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A 股个人投资者账户数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（中登公司 2023 年公开数据）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亿+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0299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全球加密货币持有者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（行业公开估算，2023）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 万/年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0299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Bloomberg 级终端单席位价格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我们的定价目标：它的 1%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4F8FC"/>
          </a:solidFill>
          <a:ln w="9525">
            <a:solidFill>
              <a:srgbClr val="E1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FA8C9"/>
          </a:solidFill>
          <a:ln w="12700">
            <a:solidFill>
              <a:srgbClr val="0FA8C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8152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3444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独立交易员与量化爱好者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有想法、缺验证工具；愿为「确定性」付费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27889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4F8FC"/>
          </a:solidFill>
          <a:ln w="9525">
            <a:solidFill>
              <a:srgbClr val="E1E9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971800"/>
            <a:ext cx="457200" cy="457200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3081528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06908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小型私募、FOF 与投顾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34747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需要可审计的研究流程与上线后监控，买不起也用不满整套机构系统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27889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4F8FC"/>
          </a:solidFill>
          <a:ln w="9525">
            <a:solidFill>
              <a:srgbClr val="E1E9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08152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0372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金融教育与高校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课堂即产品：本站已用于「因子挖掘」15 分钟教学演示，自带课堂演示模式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10/14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为什么是我们：方法论、信任层与工程质量三重壁垒</a:t>
            </a:r>
            <a:endParaRPr lang="en-US" sz="2400" dirty="0"/>
          </a:p>
        </p:txBody>
      </p:sp>
      <p:sp>
        <p:nvSpPr>
          <p:cNvPr id="115" name="Text 113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别人可以复制一个「AI 生成因子」的按钮，很难复制一整条经得起审计的流水线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0080" y="1554480"/>
            <a:ext cx="475488" cy="4754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97" y="1668597"/>
            <a:ext cx="247254" cy="247254"/>
          </a:xfrm>
          <a:prstGeom prst="rect">
            <a:avLst/>
          </a:prstGeom>
        </p:spPr>
      </p:pic>
      <p:sp>
        <p:nvSpPr>
          <p:cNvPr id="119" name="Text 116"/>
          <p:cNvSpPr txBox="1"/>
          <p:nvPr/>
        </p:nvSpPr>
        <p:spPr>
          <a:xfrm>
            <a:off x="1280160" y="15544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验证方法论</a:t>
            </a:r>
            <a:endParaRPr lang="en-US" sz="1400" dirty="0"/>
          </a:p>
        </p:txBody>
      </p:sp>
      <p:sp>
        <p:nvSpPr>
          <p:cNvPr id="120" name="Text 117"/>
          <p:cNvSpPr txBox="1"/>
          <p:nvPr/>
        </p:nvSpPr>
        <p:spPr>
          <a:xfrm>
            <a:off x="64008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留出集、CPCV、多重检验校正（Deflated Sharpe）、可交易门禁、因子家族去重与边际贡献——每一项都有论文依据并落地为产品功能，而非白皮书。</a:t>
            </a:r>
            <a:endParaRPr lang="en-US" sz="950" dirty="0"/>
          </a:p>
        </p:txBody>
      </p:sp>
      <p:sp>
        <p:nvSpPr>
          <p:cNvPr id="121" name="Shape 118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846320" y="1554480"/>
            <a:ext cx="475488" cy="475488"/>
          </a:xfrm>
          <a:prstGeom prst="ellipse">
            <a:avLst/>
          </a:prstGeom>
          <a:solidFill>
            <a:srgbClr val="3BE0FF"/>
          </a:solidFill>
          <a:ln w="12700">
            <a:solidFill>
              <a:srgbClr val="3BE0FF"/>
            </a:solidFill>
            <a:prstDash val="solid"/>
          </a:ln>
        </p:spPr>
      </p:sp>
      <p:pic>
        <p:nvPicPr>
          <p:cNvPr id="1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437" y="1668597"/>
            <a:ext cx="247254" cy="247254"/>
          </a:xfrm>
          <a:prstGeom prst="rect">
            <a:avLst/>
          </a:prstGeom>
        </p:spPr>
      </p:pic>
      <p:sp>
        <p:nvSpPr>
          <p:cNvPr id="124" name="Text 120"/>
          <p:cNvSpPr txBox="1"/>
          <p:nvPr/>
        </p:nvSpPr>
        <p:spPr>
          <a:xfrm>
            <a:off x="5486400" y="15544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信任层</a:t>
            </a:r>
            <a:endParaRPr lang="en-US" sz="1400" dirty="0"/>
          </a:p>
        </p:txBody>
      </p:sp>
      <p:sp>
        <p:nvSpPr>
          <p:cNvPr id="125" name="Text 121"/>
          <p:cNvSpPr txBox="1"/>
          <p:nvPr/>
        </p:nvSpPr>
        <p:spPr>
          <a:xfrm>
            <a:off x="484632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服务器签发的 HMAC 权益凭证、退款与争议流程、只追加的审计日志、上架因子每日重检的公开成绩、分级管理令牌——一个「敢让别人在上面花钱」的市场。</a:t>
            </a:r>
            <a:endParaRPr lang="en-US" sz="950" dirty="0"/>
          </a:p>
        </p:txBody>
      </p:sp>
      <p:sp>
        <p:nvSpPr>
          <p:cNvPr id="126" name="Shape 122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40080" y="3154680"/>
            <a:ext cx="475488" cy="475488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1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7" y="3268797"/>
            <a:ext cx="247254" cy="247254"/>
          </a:xfrm>
          <a:prstGeom prst="rect">
            <a:avLst/>
          </a:prstGeom>
        </p:spPr>
      </p:pic>
      <p:sp>
        <p:nvSpPr>
          <p:cNvPr id="129" name="Text 124"/>
          <p:cNvSpPr txBox="1"/>
          <p:nvPr/>
        </p:nvSpPr>
        <p:spPr>
          <a:xfrm>
            <a:off x="1280160" y="3154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数据与运维</a:t>
            </a:r>
            <a:endParaRPr lang="en-US" sz="1400" dirty="0"/>
          </a:p>
        </p:txBody>
      </p:sp>
      <p:sp>
        <p:nvSpPr>
          <p:cNvPr id="130" name="Text 125"/>
          <p:cNvSpPr txBox="1"/>
          <p:nvPr/>
        </p:nvSpPr>
        <p:spPr>
          <a:xfrm>
            <a:off x="64008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行情源三重冗余与健康看板、每日自动运维、真实数据夜测、Vercel 无服务器 + 边缘 KV，零运维人力即可全球服务。</a:t>
            </a:r>
            <a:endParaRPr lang="en-US" sz="950" dirty="0"/>
          </a:p>
        </p:txBody>
      </p:sp>
      <p:sp>
        <p:nvSpPr>
          <p:cNvPr id="131" name="Shape 126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4846320" y="3154680"/>
            <a:ext cx="475488" cy="475488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pic>
        <p:nvPicPr>
          <p:cNvPr id="1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437" y="3268797"/>
            <a:ext cx="247254" cy="247254"/>
          </a:xfrm>
          <a:prstGeom prst="rect">
            <a:avLst/>
          </a:prstGeom>
        </p:spPr>
      </p:pic>
      <p:sp>
        <p:nvSpPr>
          <p:cNvPr id="134" name="Text 128"/>
          <p:cNvSpPr txBox="1"/>
          <p:nvPr/>
        </p:nvSpPr>
        <p:spPr>
          <a:xfrm>
            <a:off x="5486400" y="3154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工程质量</a:t>
            </a:r>
            <a:endParaRPr lang="en-US" sz="1400" dirty="0"/>
          </a:p>
        </p:txBody>
      </p:sp>
      <p:sp>
        <p:nvSpPr>
          <p:cNvPr id="135" name="Text 129"/>
          <p:cNvSpPr txBox="1"/>
          <p:nvPr/>
        </p:nvSpPr>
        <p:spPr>
          <a:xfrm>
            <a:off x="484632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283 个自动化测试、28 条端到端浏览器测试、前后端 API 契约测试、代码规范全部进入 CI；每次提交自动部署。</a:t>
            </a:r>
            <a:endParaRPr lang="en-US" sz="950" dirty="0"/>
          </a:p>
        </p:txBody>
      </p:sp>
      <p:sp>
        <p:nvSpPr>
          <p:cNvPr id="136" name="Text 13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11/14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进展与里程碑：产品已上线，下一步是把流量变成收入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所有功能均在线可用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38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核心模块全部上线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158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938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标的宇宙：118 美股 + 40 加密币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含小时级市场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938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 API 端点，前后端契约测试守护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938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自动化测试（后端 283 + 端到端 28）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7498080" cy="0"/>
          </a:xfrm>
          <a:prstGeom prst="line">
            <a:avLst/>
          </a:prstGeom>
          <a:noFill/>
          <a:ln w="19050">
            <a:solidFill>
              <a:srgbClr val="C5D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3154680"/>
            <a:ext cx="182880" cy="182880"/>
          </a:xfrm>
          <a:prstGeom prst="ellipse">
            <a:avLst/>
          </a:prstGeom>
          <a:solidFill>
            <a:srgbClr val="2ECC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216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终端、回测、Kronos、因子挖掘双引擎、流水线 V4、市场与钱包、账户与监控、后台运维全部上线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3154680"/>
            <a:ext cx="182880" cy="182880"/>
          </a:xfrm>
          <a:prstGeom prst="ellipse">
            <a:avLst/>
          </a:prstGeom>
          <a:solidFill>
            <a:srgbClr val="0FA8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6032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A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商业化启动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7216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开通真实支付与首批 50 名上架研究者；Pro 订阅上线；A 股行情与因子宇宙接入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3154680"/>
            <a:ext cx="182880" cy="182880"/>
          </a:xfrm>
          <a:prstGeom prst="ellipse">
            <a:avLst/>
          </a:prstGeom>
          <a:solidFill>
            <a:srgbClr val="8B7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7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H1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7216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移动端与推送；社区因子排行榜与跟投；与 1–2 家券商 / 教育机构试点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35240" y="3154680"/>
            <a:ext cx="182880" cy="182880"/>
          </a:xfrm>
          <a:prstGeom prst="ellipse">
            <a:avLst/>
          </a:prstGeom>
          <a:solidFill>
            <a:srgbClr val="F0B42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H2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机构化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7216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私有化部署版本；合规咨询与实盘接口伙伴；探索海外市场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12/14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融资需求：天使轮 300 万元，18 个月做成研究市场</a:t>
            </a:r>
            <a:endParaRPr lang="en-US" sz="2400" dirty="0"/>
          </a:p>
        </p:txBody>
      </p:sp>
      <p:sp>
        <p:nvSpPr>
          <p:cNvPr id="115" name="Text 113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资金用途与阶段目标</a:t>
            </a:r>
            <a:endParaRPr lang="en-US" sz="1200" dirty="0"/>
          </a:p>
        </p:txBody>
      </p:sp>
      <p:graphicFrame>
        <p:nvGraphicFramePr>
          <p:cNvPr id="116" name="Chart 0" descr=""/>
          <p:cNvGraphicFramePr/>
          <p:nvPr/>
        </p:nvGraphicFramePr>
        <p:xfrm>
          <a:off x="365760" y="123444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7" name="Shape 114"/>
          <p:cNvSpPr/>
          <p:nvPr/>
        </p:nvSpPr>
        <p:spPr>
          <a:xfrm>
            <a:off x="3840480" y="1444752"/>
            <a:ext cx="164592" cy="164592"/>
          </a:xfrm>
          <a:prstGeom prst="ellipse">
            <a:avLst/>
          </a:prstGeom>
          <a:solidFill>
            <a:srgbClr val="3BE0FF"/>
          </a:solidFill>
          <a:ln w="12700">
            <a:solidFill>
              <a:srgbClr val="3BE0FF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411480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研发与数据 · 45%</a:t>
            </a:r>
            <a:endParaRPr lang="en-US" sz="1200" dirty="0"/>
          </a:p>
        </p:txBody>
      </p:sp>
      <p:sp>
        <p:nvSpPr>
          <p:cNvPr id="119" name="Text 116"/>
          <p:cNvSpPr txBox="1"/>
          <p:nvPr/>
        </p:nvSpPr>
        <p:spPr>
          <a:xfrm>
            <a:off x="411480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股与多市场行情、小时级与更多资产、移动端；AI 调用与算力</a:t>
            </a:r>
            <a:endParaRPr lang="en-US" sz="850" dirty="0"/>
          </a:p>
        </p:txBody>
      </p:sp>
      <p:sp>
        <p:nvSpPr>
          <p:cNvPr id="120" name="Shape 117"/>
          <p:cNvSpPr/>
          <p:nvPr/>
        </p:nvSpPr>
        <p:spPr>
          <a:xfrm>
            <a:off x="3840480" y="2157984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411480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市场与社区 · 30%</a:t>
            </a:r>
            <a:endParaRPr lang="en-US" sz="1200" dirty="0"/>
          </a:p>
        </p:txBody>
      </p:sp>
      <p:sp>
        <p:nvSpPr>
          <p:cNvPr id="122" name="Text 119"/>
          <p:cNvSpPr txBox="1"/>
          <p:nvPr/>
        </p:nvSpPr>
        <p:spPr>
          <a:xfrm>
            <a:off x="4114800" y="2359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研究者招募与激励、高校与券商合作、内容与课程</a:t>
            </a:r>
            <a:endParaRPr lang="en-US" sz="850" dirty="0"/>
          </a:p>
        </p:txBody>
      </p:sp>
      <p:sp>
        <p:nvSpPr>
          <p:cNvPr id="123" name="Shape 120"/>
          <p:cNvSpPr/>
          <p:nvPr/>
        </p:nvSpPr>
        <p:spPr>
          <a:xfrm>
            <a:off x="3840480" y="2871216"/>
            <a:ext cx="164592" cy="164592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411480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合规与运营 · 15%</a:t>
            </a:r>
            <a:endParaRPr lang="en-US" sz="1200" dirty="0"/>
          </a:p>
        </p:txBody>
      </p:sp>
      <p:sp>
        <p:nvSpPr>
          <p:cNvPr id="125" name="Text 122"/>
          <p:cNvSpPr txBox="1"/>
          <p:nvPr/>
        </p:nvSpPr>
        <p:spPr>
          <a:xfrm>
            <a:off x="4114800" y="30723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支付与资金合规、法律意见、审计</a:t>
            </a:r>
            <a:endParaRPr lang="en-US" sz="850" dirty="0"/>
          </a:p>
        </p:txBody>
      </p:sp>
      <p:sp>
        <p:nvSpPr>
          <p:cNvPr id="126" name="Shape 123"/>
          <p:cNvSpPr/>
          <p:nvPr/>
        </p:nvSpPr>
        <p:spPr>
          <a:xfrm>
            <a:off x="3840480" y="3584448"/>
            <a:ext cx="164592" cy="164592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sp>
        <p:nvSpPr>
          <p:cNvPr id="127" name="Text 124"/>
          <p:cNvSpPr txBox="1"/>
          <p:nvPr/>
        </p:nvSpPr>
        <p:spPr>
          <a:xfrm>
            <a:off x="4114800" y="3511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储备 · 10%</a:t>
            </a:r>
            <a:endParaRPr lang="en-US" sz="1200" dirty="0"/>
          </a:p>
        </p:txBody>
      </p:sp>
      <p:sp>
        <p:nvSpPr>
          <p:cNvPr id="128" name="Text 125"/>
          <p:cNvSpPr txBox="1"/>
          <p:nvPr/>
        </p:nvSpPr>
        <p:spPr>
          <a:xfrm>
            <a:off x="4114800" y="378561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个月安全垫</a:t>
            </a:r>
            <a:endParaRPr lang="en-US" sz="850" dirty="0"/>
          </a:p>
        </p:txBody>
      </p:sp>
      <p:sp>
        <p:nvSpPr>
          <p:cNvPr id="129" name="Shape 126"/>
          <p:cNvSpPr/>
          <p:nvPr/>
        </p:nvSpPr>
        <p:spPr>
          <a:xfrm>
            <a:off x="6400800" y="1325880"/>
            <a:ext cx="2286000" cy="32004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658368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个月目标</a:t>
            </a:r>
            <a:endParaRPr lang="en-US" sz="1400" dirty="0"/>
          </a:p>
        </p:txBody>
      </p:sp>
      <p:sp>
        <p:nvSpPr>
          <p:cNvPr id="131" name="Text 128"/>
          <p:cNvSpPr txBox="1"/>
          <p:nvPr/>
        </p:nvSpPr>
        <p:spPr>
          <a:xfrm>
            <a:off x="6583680" y="1874520"/>
            <a:ext cx="1965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注册研究者 1 万，付费订阅转化 5%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上架策略 / 因子 1,000 条，月交易额 50 万元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家机构 API 试点客户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股 + 美股 + 加密三市场全覆盖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Pre-A 轮</a:t>
            </a:r>
            <a:endParaRPr lang="en-US" sz="1050" dirty="0"/>
          </a:p>
        </p:txBody>
      </p:sp>
      <p:sp>
        <p:nvSpPr>
          <p:cNvPr id="132" name="Text 12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13/14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pic>
        <p:nvPicPr>
          <p:cNvPr id="1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640080" cy="640080"/>
          </a:xfrm>
          <a:prstGeom prst="rect">
            <a:avLst/>
          </a:prstGeom>
        </p:spPr>
      </p:pic>
      <p:sp>
        <p:nvSpPr>
          <p:cNvPr id="115" name="Text 112"/>
          <p:cNvSpPr txBox="1"/>
          <p:nvPr/>
        </p:nvSpPr>
        <p:spPr>
          <a:xfrm>
            <a:off x="548640" y="1463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时代的投研，瓶颈不在想法，而在可信的验证。</a:t>
            </a:r>
            <a:endParaRPr lang="en-US" sz="2400" dirty="0"/>
          </a:p>
        </p:txBody>
      </p:sp>
      <p:sp>
        <p:nvSpPr>
          <p:cNvPr id="116" name="Text 113"/>
          <p:cNvSpPr txBox="1"/>
          <p:nvPr/>
        </p:nvSpPr>
        <p:spPr>
          <a:xfrm>
            <a:off x="54864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把「AI 提出 → 严格检验 → 交易执行 → 持续监控 → 市场交易」做成了一条已经在线运行的流水线。我们邀请您一起，把它做成 AI 投研时代的基础设施。</a:t>
            </a:r>
            <a:endParaRPr lang="en-US" sz="1250" dirty="0"/>
          </a:p>
        </p:txBody>
      </p:sp>
      <p:pic>
        <p:nvPicPr>
          <p:cNvPr id="1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49040"/>
            <a:ext cx="237744" cy="237744"/>
          </a:xfrm>
          <a:prstGeom prst="rect">
            <a:avLst/>
          </a:prstGeom>
        </p:spPr>
      </p:pic>
      <p:sp>
        <p:nvSpPr>
          <p:cNvPr id="118" name="Text 114"/>
          <p:cNvSpPr txBox="1"/>
          <p:nvPr/>
        </p:nvSpPr>
        <p:spPr>
          <a:xfrm>
            <a:off x="914400" y="3703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aiquant-rust.vercel.app</a:t>
            </a:r>
            <a:endParaRPr lang="en-US" sz="1100" dirty="0"/>
          </a:p>
        </p:txBody>
      </p:sp>
      <p:sp>
        <p:nvSpPr>
          <p:cNvPr id="119" name="Text 115"/>
          <p:cNvSpPr txBox="1"/>
          <p:nvPr/>
        </p:nvSpPr>
        <p:spPr>
          <a:xfrm>
            <a:off x="3749040" y="3703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线上产品，现在就能试</a:t>
            </a:r>
            <a:endParaRPr lang="en-US" sz="950" dirty="0"/>
          </a:p>
        </p:txBody>
      </p:sp>
      <p:pic>
        <p:nvPicPr>
          <p:cNvPr id="1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237744" cy="237744"/>
          </a:xfrm>
          <a:prstGeom prst="rect">
            <a:avLst/>
          </a:prstGeom>
        </p:spPr>
      </p:pic>
      <p:sp>
        <p:nvSpPr>
          <p:cNvPr id="121" name="Text 116"/>
          <p:cNvSpPr txBox="1"/>
          <p:nvPr/>
        </p:nvSpPr>
        <p:spPr>
          <a:xfrm>
            <a:off x="914400" y="41148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github.com/presleyzhou/Aiquant</a:t>
            </a:r>
            <a:endParaRPr lang="en-US" sz="1100" dirty="0"/>
          </a:p>
        </p:txBody>
      </p:sp>
      <p:sp>
        <p:nvSpPr>
          <p:cNvPr id="122" name="Text 117"/>
          <p:cNvSpPr txBox="1"/>
          <p:nvPr/>
        </p:nvSpPr>
        <p:spPr>
          <a:xfrm>
            <a:off x="3749040" y="41148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开源仓库与完整文档</a:t>
            </a:r>
            <a:endParaRPr lang="en-US" sz="950" dirty="0"/>
          </a:p>
        </p:txBody>
      </p:sp>
      <p:pic>
        <p:nvPicPr>
          <p:cNvPr id="1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0"/>
            <a:ext cx="237744" cy="237744"/>
          </a:xfrm>
          <a:prstGeom prst="rect">
            <a:avLst/>
          </a:prstGeom>
        </p:spPr>
      </p:pic>
      <p:sp>
        <p:nvSpPr>
          <p:cNvPr id="124" name="Text 118"/>
          <p:cNvSpPr txBox="1"/>
          <p:nvPr/>
        </p:nvSpPr>
        <p:spPr>
          <a:xfrm>
            <a:off x="914400" y="45262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Presley Zhou · presley.zhou@cailif.ca</a:t>
            </a:r>
            <a:endParaRPr lang="en-US" sz="1100" dirty="0"/>
          </a:p>
        </p:txBody>
      </p:sp>
      <p:sp>
        <p:nvSpPr>
          <p:cNvPr id="125" name="Text 119"/>
          <p:cNvSpPr txBox="1"/>
          <p:nvPr/>
        </p:nvSpPr>
        <p:spPr>
          <a:xfrm>
            <a:off x="3749040" y="4526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路演后欢迎联系深聊</a:t>
            </a:r>
            <a:endParaRPr lang="en-US" sz="950" dirty="0"/>
          </a:p>
        </p:txBody>
      </p:sp>
      <p:sp>
        <p:nvSpPr>
          <p:cNvPr id="126" name="Shape 120"/>
          <p:cNvSpPr/>
          <p:nvPr/>
        </p:nvSpPr>
        <p:spPr>
          <a:xfrm>
            <a:off x="5705856" y="1042416"/>
            <a:ext cx="3127248" cy="1660922"/>
          </a:xfrm>
          <a:prstGeom prst="roundRect">
            <a:avLst>
              <a:gd name="adj" fmla="val 4404"/>
            </a:avLst>
          </a:prstGeom>
          <a:solidFill>
            <a:srgbClr val="1A2640"/>
          </a:solidFill>
          <a:ln w="9525">
            <a:solidFill>
              <a:srgbClr val="2739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097280"/>
            <a:ext cx="3017520" cy="1551194"/>
          </a:xfrm>
          <a:prstGeom prst="rect">
            <a:avLst/>
          </a:prstGeom>
        </p:spPr>
      </p:pic>
      <p:sp>
        <p:nvSpPr>
          <p:cNvPr id="128" name="Text 121"/>
          <p:cNvSpPr txBox="1"/>
          <p:nvPr/>
        </p:nvSpPr>
        <p:spPr>
          <a:xfrm>
            <a:off x="5760720" y="270333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交易市场：策略与因子在这里被买卖</a:t>
            </a:r>
            <a:endParaRPr lang="en-US" sz="850" dirty="0"/>
          </a:p>
        </p:txBody>
      </p:sp>
      <p:sp>
        <p:nvSpPr>
          <p:cNvPr id="129" name="Text 122"/>
          <p:cNvSpPr txBox="1"/>
          <p:nvPr/>
        </p:nvSpPr>
        <p:spPr>
          <a:xfrm>
            <a:off x="576072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欢迎提问</a:t>
            </a:r>
            <a:endParaRPr lang="en-US" sz="1800" dirty="0"/>
          </a:p>
        </p:txBody>
      </p:sp>
      <p:sp>
        <p:nvSpPr>
          <p:cNvPr id="130" name="Text 12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AIQUANT TERMINAL · aiquant-rust.vercel.app · 14/14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验证方法论速查（供问答）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每一项都对应产品中一个可点击的功能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8404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留出集与样本外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3258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挖掘只看训练段；留出段 IC 单独汇报；模拟持仓从部署日起一切样本外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746504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46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CPCV 组合式净化交叉验证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7465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组、k=2 → 5 条拼接的样本外路径，含净化与禁运期；给出路径 Sharpe 分布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38404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1671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多重检验校正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1671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显著性门槛随累计试验次数上升（|t| ≥ 2.0，每十倍 +0.5，上限 3.0）；流水线报告 Deflated Sharpe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87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可交易门禁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58775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Top-N 换手率、扣 10 / 15 bp 双边成本后的分位多空价差；负值直接拒绝并反馈给 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8229600" cy="38404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008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稳健性（严格模式）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30083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折滚动 IC 至少 3 折同向 + 牛熊两种市场状态同向；分期有效性热图可视化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429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因子家族与边际贡献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34290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|相关| ≥ 0.5 单链接聚类，按家族等权合成；Δ Sharpe 报告加入 / 移除某因子的组合变化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49624"/>
            <a:ext cx="8229600" cy="38404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8496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回测诚实性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38496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下一根开盘成交、双边佣金与滑点、始终对照买入持有；止损 / 止盈 / 移动止损 / 波动目标按上一根收盘判定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270248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270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上线后成绩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971800" y="42702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服务器每日重检上架与已同步因子：近 60 根方向对齐 IC、五项评级、衰减标记，卖家不可修改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803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803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04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204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05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605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06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406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06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06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406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406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06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8076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76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8076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076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2084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2084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2084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092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6092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6092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0100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0100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0100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0100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0100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41080" y="3200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0" y="9601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41080" y="16002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41080" y="224028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41080" y="288036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41080" y="352044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41080" y="416052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41080" y="4800600"/>
            <a:ext cx="32004" cy="32004"/>
          </a:xfrm>
          <a:prstGeom prst="ellipse">
            <a:avLst/>
          </a:prstGeom>
          <a:solidFill>
            <a:srgbClr val="1B2B48"/>
          </a:solidFill>
          <a:ln w="12700">
            <a:solidFill>
              <a:srgbClr val="1B2B4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 · 技术架构与安全（供问答）</a:t>
            </a:r>
            <a:endParaRPr lang="en-US" sz="2400" dirty="0"/>
          </a:p>
        </p:txBody>
      </p:sp>
      <p:sp>
        <p:nvSpPr>
          <p:cNvPr id="115" name="Text 113"/>
          <p:cNvSpPr txBox="1"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无服务器架构，零运维人力即可全球服务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3BE0FF"/>
          </a:solidFill>
          <a:ln w="12700">
            <a:solidFill>
              <a:srgbClr val="3BE0FF"/>
            </a:solidFill>
            <a:prstDash val="solid"/>
          </a:ln>
        </p:spPr>
      </p:sp>
      <p:pic>
        <p:nvPicPr>
          <p:cNvPr id="1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27048"/>
            <a:ext cx="237744" cy="237744"/>
          </a:xfrm>
          <a:prstGeom prst="rect">
            <a:avLst/>
          </a:prstGeom>
        </p:spPr>
      </p:pic>
      <p:sp>
        <p:nvSpPr>
          <p:cNvPr id="118" name="Text 115"/>
          <p:cNvSpPr txBox="1"/>
          <p:nvPr/>
        </p:nvSpPr>
        <p:spPr>
          <a:xfrm>
            <a:off x="105156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00" dirty="0"/>
          </a:p>
        </p:txBody>
      </p:sp>
      <p:sp>
        <p:nvSpPr>
          <p:cNvPr id="119" name="Text 116"/>
          <p:cNvSpPr txBox="1"/>
          <p:nvPr/>
        </p:nvSpPr>
        <p:spPr>
          <a:xfrm>
            <a:off x="2377440" y="1371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Vite，按视图懒加载；Playwright 端到端测试 28 条；深色终端风格，图表可访问性与键盘操作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50008"/>
            <a:ext cx="237744" cy="237744"/>
          </a:xfrm>
          <a:prstGeom prst="rect">
            <a:avLst/>
          </a:prstGeom>
        </p:spPr>
      </p:pic>
      <p:sp>
        <p:nvSpPr>
          <p:cNvPr id="122" name="Text 118"/>
          <p:cNvSpPr txBox="1"/>
          <p:nvPr/>
        </p:nvSpPr>
        <p:spPr>
          <a:xfrm>
            <a:off x="105156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300" dirty="0"/>
          </a:p>
        </p:txBody>
      </p:sp>
      <p:sp>
        <p:nvSpPr>
          <p:cNvPr id="123" name="Text 119"/>
          <p:cNvSpPr txBox="1"/>
          <p:nvPr/>
        </p:nvSpPr>
        <p:spPr>
          <a:xfrm>
            <a:off x="2377440" y="2194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FastAPI（Vercel 无服务器函数）+ Hugging Face Space 承载 Kronos 推理；80+ REST 端点 + WebSocket 行情；ruff 规范 + 283 个 pytest 进入 CI</a:t>
            </a:r>
            <a:endParaRPr lang="en-US" sz="1000" dirty="0"/>
          </a:p>
        </p:txBody>
      </p:sp>
      <p:sp>
        <p:nvSpPr>
          <p:cNvPr id="124" name="Shape 120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8B78FF"/>
          </a:solidFill>
          <a:ln w="12700">
            <a:solidFill>
              <a:srgbClr val="8B78FF"/>
            </a:solidFill>
            <a:prstDash val="solid"/>
          </a:ln>
        </p:spPr>
      </p:sp>
      <p:pic>
        <p:nvPicPr>
          <p:cNvPr id="1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72968"/>
            <a:ext cx="237744" cy="237744"/>
          </a:xfrm>
          <a:prstGeom prst="rect">
            <a:avLst/>
          </a:prstGeom>
        </p:spPr>
      </p:pic>
      <p:sp>
        <p:nvSpPr>
          <p:cNvPr id="126" name="Text 121"/>
          <p:cNvSpPr txBox="1"/>
          <p:nvPr/>
        </p:nvSpPr>
        <p:spPr>
          <a:xfrm>
            <a:off x="1051560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数据与存储</a:t>
            </a:r>
            <a:endParaRPr lang="en-US" sz="1300" dirty="0"/>
          </a:p>
        </p:txBody>
      </p:sp>
      <p:sp>
        <p:nvSpPr>
          <p:cNvPr id="127" name="Text 122"/>
          <p:cNvSpPr txBox="1"/>
          <p:nvPr/>
        </p:nvSpPr>
        <p:spPr>
          <a:xfrm>
            <a:off x="2377440" y="30175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行情：Binance / Yahoo / CoinGecko / Stooq / AkShare 多源冗余与三层缓存；业务：Upstash KV（上架、订单、钱包、争议、审计）；账户：Supabase Auth</a:t>
            </a:r>
            <a:endParaRPr lang="en-US" sz="1000" dirty="0"/>
          </a:p>
        </p:txBody>
      </p:sp>
      <p:sp>
        <p:nvSpPr>
          <p:cNvPr id="128" name="Shape 123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2ECC8A"/>
          </a:solidFill>
          <a:ln w="12700">
            <a:solidFill>
              <a:srgbClr val="2ECC8A"/>
            </a:solidFill>
            <a:prstDash val="solid"/>
          </a:ln>
        </p:spPr>
      </p:sp>
      <p:pic>
        <p:nvPicPr>
          <p:cNvPr id="1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95928"/>
            <a:ext cx="237744" cy="237744"/>
          </a:xfrm>
          <a:prstGeom prst="rect">
            <a:avLst/>
          </a:prstGeom>
        </p:spPr>
      </p:pic>
      <p:sp>
        <p:nvSpPr>
          <p:cNvPr id="130" name="Text 124"/>
          <p:cNvSpPr txBox="1"/>
          <p:nvPr/>
        </p:nvSpPr>
        <p:spPr>
          <a:xfrm>
            <a:off x="105156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安全与信任</a:t>
            </a:r>
            <a:endParaRPr lang="en-US" sz="1300" dirty="0"/>
          </a:p>
        </p:txBody>
      </p:sp>
      <p:sp>
        <p:nvSpPr>
          <p:cNvPr id="131" name="Text 125"/>
          <p:cNvSpPr txBox="1"/>
          <p:nvPr/>
        </p:nvSpPr>
        <p:spPr>
          <a:xfrm>
            <a:off x="2377440" y="38404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 DSL 自研解析器永不 eval；HMAC 签发权益凭证；Stripe / Coinbase webhook 签名校验；分级管理令牌；只追加审计日志；Sentry 可观测性；限流与熔断</a:t>
            </a:r>
            <a:endParaRPr lang="en-US" sz="1000" dirty="0"/>
          </a:p>
        </p:txBody>
      </p:sp>
      <p:sp>
        <p:nvSpPr>
          <p:cNvPr id="132" name="Text 1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AIQUANT TERMINAL 路演</dc:title>
  <dc:subject>PptxGenJS Presentation</dc:subject>
  <dc:creator>PptxGenJS</dc:creator>
  <cp:lastModifiedBy>PptxGenJS</cp:lastModifiedBy>
  <cp:revision>1</cp:revision>
  <dcterms:created xsi:type="dcterms:W3CDTF">2026-09-12T16:31:00Z</dcterms:created>
  <dcterms:modified xsi:type="dcterms:W3CDTF">2026-09-12T16:31:00Z</dcterms:modified>
</cp:coreProperties>
</file>